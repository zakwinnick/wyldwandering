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Wyld Wandering template. Replace all bracketed text before use. To add a photo, remove the photo placeholder rectangle and its label, insert your licensed image and crop it to the same bounds. Use the supplied vector logo masters when replacing brand artwork. Text and layout shapes are editable; the logo is an image. Georgia and Arial are the Office fallback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Wyld Wandering template. Replace all bracketed text before use. To add a photo, remove the photo placeholder rectangle and its label, insert your licensed image and crop it to the same bounds. Use the supplied vector logo masters when replacing brand artwork. Text and layout shapes are editable; the logo is an image. Georgia and Arial are the Office fallback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Wyld Wandering template. Replace all bracketed text before use. To add a photo, remove the photo placeholder rectangle and its label, insert your licensed image and crop it to the same bounds. Use the supplied vector logo masters when replacing brand artwork. Text and layout shapes are editable; the logo is an image. Georgia and Arial are the Office fallback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Wyld Wandering template. Replace all bracketed text before use. To add a photo, remove the photo placeholder rectangle and its label, insert your licensed image and crop it to the same bounds. Use the supplied vector logo masters when replacing brand artwork. Text and layout shapes are editable; the logo is an image. Georgia and Arial are the Office fallback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Wyld Wandering template. Replace all bracketed text before use. To add a photo, remove the photo placeholder rectangle and its label, insert your licensed image and crop it to the same bounds. Use the supplied vector logo masters when replacing brand artwork. Text and layout shapes are editable; the logo is an image. Georgia and Arial are the Office fallback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Wyld Wandering template. Replace all bracketed text before use. To add a photo, remove the photo placeholder rectangle and its label, insert your licensed image and crop it to the same bounds. Use the supplied vector logo masters when replacing brand artwork. Text and layout shapes are editable; the logo is an image. Georgia and Arial are the Office fallback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Wyld Wandering template. Replace all bracketed text before use. To add a photo, remove the photo placeholder rectangle and its label, insert your licensed image and crop it to the same bounds. Use the supplied vector logo masters when replacing brand artwork. Text and layout shapes are editable; the logo is an image. Georgia and Arial are the Office fallback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Wyld Wandering template. Replace all bracketed text before use. To add a photo, remove the photo placeholder rectangle and its label, insert your licensed image and crop it to the same bounds. Use the supplied vector logo masters when replacing brand artwork. Text and layout shapes are editable; the logo is an image. Georgia and Arial are the Office fallback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BF5"/>
        </a:solidFill>
      </p:bgPr>
    </p:bg>
    <p:spTree>
      <p:nvGrpSpPr>
        <p:cNvPr id="1" name=""/>
        <p:cNvGrpSpPr/>
        <p:nvPr/>
      </p:nvGrpSpPr>
      <p:grpSpPr>
        <a:xfrm>
          <a:off x="0" y="0"/>
          <a:ext cx="0" cy="0"/>
          <a:chOff x="0" y="0"/>
          <a:chExt cx="0" cy="0"/>
        </a:xfrm>
      </p:grpSpPr>
      <p:pic>
        <p:nvPicPr>
          <p:cNvPr id="2" name="Image 0" descr="/Users/zakwinnick/Documents/GitHub/WyldWandering/branding/wyld-wandering-brand-kit-v1/01-logos/png/ww-horizontal-light.png">    </p:cNvPr>
          <p:cNvPicPr>
            <a:picLocks noChangeAspect="1"/>
          </p:cNvPicPr>
          <p:nvPr/>
        </p:nvPicPr>
        <p:blipFill>
          <a:blip r:embed="rId1"/>
          <a:stretch>
            <a:fillRect/>
          </a:stretch>
        </p:blipFill>
        <p:spPr>
          <a:xfrm>
            <a:off x="400050" y="342900"/>
            <a:ext cx="3543300" cy="683270"/>
          </a:xfrm>
          <a:prstGeom prst="rect">
            <a:avLst/>
          </a:prstGeom>
        </p:spPr>
      </p:pic>
      <p:sp>
        <p:nvSpPr>
          <p:cNvPr id="3" name="Text 0"/>
          <p:cNvSpPr/>
          <p:nvPr/>
        </p:nvSpPr>
        <p:spPr>
          <a:xfrm>
            <a:off x="514350" y="1714500"/>
            <a:ext cx="8598218" cy="164306"/>
          </a:xfrm>
          <a:prstGeom prst="rect">
            <a:avLst/>
          </a:prstGeom>
          <a:noFill/>
          <a:ln/>
        </p:spPr>
        <p:txBody>
          <a:bodyPr wrap="square" lIns="0" tIns="0" rIns="0" bIns="0" rtlCol="0" anchor="t"/>
          <a:lstStyle/>
          <a:p>
            <a:pPr algn="l" indent="0" marL="0">
              <a:lnSpc>
                <a:spcPts val="1139"/>
              </a:lnSpc>
              <a:buNone/>
            </a:pPr>
            <a:r>
              <a:rPr lang="en-US" sz="1035" dirty="0">
                <a:solidFill>
                  <a:srgbClr val="0F1A14"/>
                </a:solidFill>
                <a:latin typeface="Arial" pitchFamily="34" charset="0"/>
                <a:ea typeface="Arial" pitchFamily="34" charset="-122"/>
                <a:cs typeface="Arial" pitchFamily="34" charset="-120"/>
              </a:rPr>
              <a:t>YOUR TRIP</a:t>
            </a:r>
            <a:endParaRPr lang="en-US" sz="1035" dirty="0"/>
          </a:p>
        </p:txBody>
      </p:sp>
      <p:sp>
        <p:nvSpPr>
          <p:cNvPr id="4" name="Text 1"/>
          <p:cNvSpPr/>
          <p:nvPr/>
        </p:nvSpPr>
        <p:spPr>
          <a:xfrm>
            <a:off x="457200" y="2286000"/>
            <a:ext cx="8656511" cy="800100"/>
          </a:xfrm>
          <a:prstGeom prst="rect">
            <a:avLst/>
          </a:prstGeom>
          <a:noFill/>
          <a:ln/>
        </p:spPr>
        <p:txBody>
          <a:bodyPr wrap="square" lIns="0" tIns="0" rIns="0" bIns="0" rtlCol="0" anchor="t"/>
          <a:lstStyle/>
          <a:p>
            <a:pPr algn="l" indent="0" marL="0">
              <a:lnSpc>
                <a:spcPts val="5544"/>
              </a:lnSpc>
              <a:buNone/>
            </a:pPr>
            <a:r>
              <a:rPr lang="en-US" sz="5040" dirty="0">
                <a:solidFill>
                  <a:srgbClr val="0F1A14"/>
                </a:solidFill>
                <a:latin typeface="Georgia" pitchFamily="34" charset="0"/>
                <a:ea typeface="Georgia" pitchFamily="34" charset="-122"/>
                <a:cs typeface="Georgia" pitchFamily="34" charset="-120"/>
              </a:rPr>
              <a:t>[ Destination ]</a:t>
            </a:r>
            <a:endParaRPr lang="en-US" sz="5040" dirty="0"/>
          </a:p>
        </p:txBody>
      </p:sp>
      <p:sp>
        <p:nvSpPr>
          <p:cNvPr id="5" name="Text 2"/>
          <p:cNvSpPr/>
          <p:nvPr/>
        </p:nvSpPr>
        <p:spPr>
          <a:xfrm>
            <a:off x="514350" y="3257550"/>
            <a:ext cx="8598218" cy="228600"/>
          </a:xfrm>
          <a:prstGeom prst="rect">
            <a:avLst/>
          </a:prstGeom>
          <a:noFill/>
          <a:ln/>
        </p:spPr>
        <p:txBody>
          <a:bodyPr wrap="square" lIns="0" tIns="0" rIns="0" bIns="0" rtlCol="0" anchor="t"/>
          <a:lstStyle/>
          <a:p>
            <a:pPr algn="l" indent="0" marL="0">
              <a:lnSpc>
                <a:spcPts val="1584"/>
              </a:lnSpc>
              <a:buNone/>
            </a:pPr>
            <a:r>
              <a:rPr lang="en-US" sz="1440" dirty="0">
                <a:solidFill>
                  <a:srgbClr val="0F1A14"/>
                </a:solidFill>
                <a:latin typeface="Arial" pitchFamily="34" charset="0"/>
                <a:ea typeface="Arial" pitchFamily="34" charset="-122"/>
                <a:cs typeface="Arial" pitchFamily="34" charset="-120"/>
              </a:rPr>
              <a:t>Prepared for [ Client name ] / [ Travel dates ]</a:t>
            </a:r>
            <a:endParaRPr lang="en-US" sz="1440" dirty="0"/>
          </a:p>
        </p:txBody>
      </p:sp>
      <p:sp>
        <p:nvSpPr>
          <p:cNvPr id="6" name="Text 3"/>
          <p:cNvSpPr/>
          <p:nvPr/>
        </p:nvSpPr>
        <p:spPr>
          <a:xfrm>
            <a:off x="514350" y="4114800"/>
            <a:ext cx="685800" cy="28575"/>
          </a:xfrm>
          <a:prstGeom prst="rect">
            <a:avLst/>
          </a:prstGeom>
          <a:solidFill>
            <a:srgbClr val="C45D3A"/>
          </a:solidFill>
          <a:ln/>
        </p:spPr>
        <p:txBody>
          <a:bodyPr wrap="square" rtlCol="0" anchor="ctr"/>
          <a:lstStyle/>
          <a:p>
            <a:pPr indent="0" marL="0">
              <a:buNone/>
            </a:pPr>
            <a:endParaRPr lang="en-US" dirty="0"/>
          </a:p>
        </p:txBody>
      </p:sp>
      <p:sp>
        <p:nvSpPr>
          <p:cNvPr id="7" name="Text 4"/>
          <p:cNvSpPr/>
          <p:nvPr/>
        </p:nvSpPr>
        <p:spPr>
          <a:xfrm>
            <a:off x="514350" y="4543425"/>
            <a:ext cx="8598218" cy="164306"/>
          </a:xfrm>
          <a:prstGeom prst="rect">
            <a:avLst/>
          </a:prstGeom>
          <a:noFill/>
          <a:ln/>
        </p:spPr>
        <p:txBody>
          <a:bodyPr wrap="square" lIns="0" tIns="0" rIns="0" bIns="0" rtlCol="0" anchor="t"/>
          <a:lstStyle/>
          <a:p>
            <a:pPr algn="l" indent="0" marL="0">
              <a:lnSpc>
                <a:spcPts val="1139"/>
              </a:lnSpc>
              <a:buNone/>
            </a:pPr>
            <a:r>
              <a:rPr lang="en-US" sz="1035" dirty="0">
                <a:solidFill>
                  <a:srgbClr val="0F1A14"/>
                </a:solidFill>
                <a:latin typeface="Arial" pitchFamily="34" charset="0"/>
                <a:ea typeface="Arial" pitchFamily="34" charset="-122"/>
                <a:cs typeface="Arial" pitchFamily="34" charset="-120"/>
              </a:rPr>
              <a:t>wyldwandering.com</a:t>
            </a:r>
            <a:endParaRPr lang="en-US" sz="1035" dirty="0"/>
          </a:p>
        </p:txBody>
      </p:sp>
      <p:pic>
        <p:nvPicPr>
          <p:cNvPr id="8" name="Image 1" descr="/Users/zakwinnick/Documents/GitHub/WyldWandering/branding/wyld-wandering-brand-kit-v1/01-logos/png/ww-symbol-light.png">    </p:cNvPr>
          <p:cNvPicPr>
            <a:picLocks noChangeAspect="1"/>
          </p:cNvPicPr>
          <p:nvPr/>
        </p:nvPicPr>
        <p:blipFill>
          <a:blip r:embed="rId2"/>
          <a:stretch>
            <a:fillRect/>
          </a:stretch>
        </p:blipFill>
        <p:spPr>
          <a:xfrm>
            <a:off x="6343650" y="2114550"/>
            <a:ext cx="2171700" cy="21717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A14"/>
        </a:solidFill>
      </p:bgPr>
    </p:bg>
    <p:spTree>
      <p:nvGrpSpPr>
        <p:cNvPr id="1" name=""/>
        <p:cNvGrpSpPr/>
        <p:nvPr/>
      </p:nvGrpSpPr>
      <p:grpSpPr>
        <a:xfrm>
          <a:off x="0" y="0"/>
          <a:ext cx="0" cy="0"/>
          <a:chOff x="0" y="0"/>
          <a:chExt cx="0" cy="0"/>
        </a:xfrm>
      </p:grpSpPr>
      <p:pic>
        <p:nvPicPr>
          <p:cNvPr id="2" name="Image 0" descr="/Users/zakwinnick/Documents/GitHub/WyldWandering/branding/wyld-wandering-brand-kit-v1/01-logos/png/ww-horizontal-dark.png">    </p:cNvPr>
          <p:cNvPicPr>
            <a:picLocks noChangeAspect="1"/>
          </p:cNvPicPr>
          <p:nvPr/>
        </p:nvPicPr>
        <p:blipFill>
          <a:blip r:embed="rId1"/>
          <a:stretch>
            <a:fillRect/>
          </a:stretch>
        </p:blipFill>
        <p:spPr>
          <a:xfrm>
            <a:off x="400050" y="342900"/>
            <a:ext cx="3543300" cy="683270"/>
          </a:xfrm>
          <a:prstGeom prst="rect">
            <a:avLst/>
          </a:prstGeom>
        </p:spPr>
      </p:pic>
      <p:sp>
        <p:nvSpPr>
          <p:cNvPr id="3" name="Text 0"/>
          <p:cNvSpPr/>
          <p:nvPr/>
        </p:nvSpPr>
        <p:spPr>
          <a:xfrm>
            <a:off x="514350" y="1714500"/>
            <a:ext cx="8598218" cy="164306"/>
          </a:xfrm>
          <a:prstGeom prst="rect">
            <a:avLst/>
          </a:prstGeom>
          <a:noFill/>
          <a:ln/>
        </p:spPr>
        <p:txBody>
          <a:bodyPr wrap="square" lIns="0" tIns="0" rIns="0" bIns="0" rtlCol="0" anchor="t"/>
          <a:lstStyle/>
          <a:p>
            <a:pPr algn="l" indent="0" marL="0">
              <a:lnSpc>
                <a:spcPts val="1139"/>
              </a:lnSpc>
              <a:buNone/>
            </a:pPr>
            <a:r>
              <a:rPr lang="en-US" sz="1035" dirty="0">
                <a:solidFill>
                  <a:srgbClr val="FFFBF5"/>
                </a:solidFill>
                <a:latin typeface="Arial" pitchFamily="34" charset="0"/>
                <a:ea typeface="Arial" pitchFamily="34" charset="-122"/>
                <a:cs typeface="Arial" pitchFamily="34" charset="-120"/>
              </a:rPr>
              <a:t>YOUR TRIP</a:t>
            </a:r>
            <a:endParaRPr lang="en-US" sz="1035" dirty="0"/>
          </a:p>
        </p:txBody>
      </p:sp>
      <p:sp>
        <p:nvSpPr>
          <p:cNvPr id="4" name="Text 1"/>
          <p:cNvSpPr/>
          <p:nvPr/>
        </p:nvSpPr>
        <p:spPr>
          <a:xfrm>
            <a:off x="457200" y="2286000"/>
            <a:ext cx="8656511" cy="800100"/>
          </a:xfrm>
          <a:prstGeom prst="rect">
            <a:avLst/>
          </a:prstGeom>
          <a:noFill/>
          <a:ln/>
        </p:spPr>
        <p:txBody>
          <a:bodyPr wrap="square" lIns="0" tIns="0" rIns="0" bIns="0" rtlCol="0" anchor="t"/>
          <a:lstStyle/>
          <a:p>
            <a:pPr algn="l" indent="0" marL="0">
              <a:lnSpc>
                <a:spcPts val="5544"/>
              </a:lnSpc>
              <a:buNone/>
            </a:pPr>
            <a:r>
              <a:rPr lang="en-US" sz="5040" dirty="0">
                <a:solidFill>
                  <a:srgbClr val="FFFBF5"/>
                </a:solidFill>
                <a:latin typeface="Georgia" pitchFamily="34" charset="0"/>
                <a:ea typeface="Georgia" pitchFamily="34" charset="-122"/>
                <a:cs typeface="Georgia" pitchFamily="34" charset="-120"/>
              </a:rPr>
              <a:t>[ Destination ]</a:t>
            </a:r>
            <a:endParaRPr lang="en-US" sz="5040" dirty="0"/>
          </a:p>
        </p:txBody>
      </p:sp>
      <p:sp>
        <p:nvSpPr>
          <p:cNvPr id="5" name="Text 2"/>
          <p:cNvSpPr/>
          <p:nvPr/>
        </p:nvSpPr>
        <p:spPr>
          <a:xfrm>
            <a:off x="514350" y="3257550"/>
            <a:ext cx="8598218" cy="228600"/>
          </a:xfrm>
          <a:prstGeom prst="rect">
            <a:avLst/>
          </a:prstGeom>
          <a:noFill/>
          <a:ln/>
        </p:spPr>
        <p:txBody>
          <a:bodyPr wrap="square" lIns="0" tIns="0" rIns="0" bIns="0" rtlCol="0" anchor="t"/>
          <a:lstStyle/>
          <a:p>
            <a:pPr algn="l" indent="0" marL="0">
              <a:lnSpc>
                <a:spcPts val="1584"/>
              </a:lnSpc>
              <a:buNone/>
            </a:pPr>
            <a:r>
              <a:rPr lang="en-US" sz="1440" dirty="0">
                <a:solidFill>
                  <a:srgbClr val="FFFBF5"/>
                </a:solidFill>
                <a:latin typeface="Arial" pitchFamily="34" charset="0"/>
                <a:ea typeface="Arial" pitchFamily="34" charset="-122"/>
                <a:cs typeface="Arial" pitchFamily="34" charset="-120"/>
              </a:rPr>
              <a:t>Prepared for [ Client name ] / [ Travel dates ]</a:t>
            </a:r>
            <a:endParaRPr lang="en-US" sz="1440" dirty="0"/>
          </a:p>
        </p:txBody>
      </p:sp>
      <p:sp>
        <p:nvSpPr>
          <p:cNvPr id="6" name="Text 3"/>
          <p:cNvSpPr/>
          <p:nvPr/>
        </p:nvSpPr>
        <p:spPr>
          <a:xfrm>
            <a:off x="514350" y="4114800"/>
            <a:ext cx="685800" cy="28575"/>
          </a:xfrm>
          <a:prstGeom prst="rect">
            <a:avLst/>
          </a:prstGeom>
          <a:solidFill>
            <a:srgbClr val="C45D3A"/>
          </a:solidFill>
          <a:ln/>
        </p:spPr>
        <p:txBody>
          <a:bodyPr wrap="square" rtlCol="0" anchor="ctr"/>
          <a:lstStyle/>
          <a:p>
            <a:pPr indent="0" marL="0">
              <a:buNone/>
            </a:pPr>
            <a:endParaRPr lang="en-US" dirty="0"/>
          </a:p>
        </p:txBody>
      </p:sp>
      <p:sp>
        <p:nvSpPr>
          <p:cNvPr id="7" name="Text 4"/>
          <p:cNvSpPr/>
          <p:nvPr/>
        </p:nvSpPr>
        <p:spPr>
          <a:xfrm>
            <a:off x="514350" y="4543425"/>
            <a:ext cx="8598218" cy="164306"/>
          </a:xfrm>
          <a:prstGeom prst="rect">
            <a:avLst/>
          </a:prstGeom>
          <a:noFill/>
          <a:ln/>
        </p:spPr>
        <p:txBody>
          <a:bodyPr wrap="square" lIns="0" tIns="0" rIns="0" bIns="0" rtlCol="0" anchor="t"/>
          <a:lstStyle/>
          <a:p>
            <a:pPr algn="l" indent="0" marL="0">
              <a:lnSpc>
                <a:spcPts val="1139"/>
              </a:lnSpc>
              <a:buNone/>
            </a:pPr>
            <a:r>
              <a:rPr lang="en-US" sz="1035" dirty="0">
                <a:solidFill>
                  <a:srgbClr val="FFFBF5"/>
                </a:solidFill>
                <a:latin typeface="Arial" pitchFamily="34" charset="0"/>
                <a:ea typeface="Arial" pitchFamily="34" charset="-122"/>
                <a:cs typeface="Arial" pitchFamily="34" charset="-120"/>
              </a:rPr>
              <a:t>wyldwandering.com</a:t>
            </a:r>
            <a:endParaRPr lang="en-US" sz="1035" dirty="0"/>
          </a:p>
        </p:txBody>
      </p:sp>
      <p:pic>
        <p:nvPicPr>
          <p:cNvPr id="8" name="Image 1" descr="/Users/zakwinnick/Documents/GitHub/WyldWandering/branding/wyld-wandering-brand-kit-v1/01-logos/png/ww-symbol-dark.png">    </p:cNvPr>
          <p:cNvPicPr>
            <a:picLocks noChangeAspect="1"/>
          </p:cNvPicPr>
          <p:nvPr/>
        </p:nvPicPr>
        <p:blipFill>
          <a:blip r:embed="rId2"/>
          <a:stretch>
            <a:fillRect/>
          </a:stretch>
        </p:blipFill>
        <p:spPr>
          <a:xfrm>
            <a:off x="6343650" y="2114550"/>
            <a:ext cx="2171700" cy="21717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BF5"/>
        </a:solidFill>
      </p:bgPr>
    </p:bg>
    <p:spTree>
      <p:nvGrpSpPr>
        <p:cNvPr id="1" name=""/>
        <p:cNvGrpSpPr/>
        <p:nvPr/>
      </p:nvGrpSpPr>
      <p:grpSpPr>
        <a:xfrm>
          <a:off x="0" y="0"/>
          <a:ext cx="0" cy="0"/>
          <a:chOff x="0" y="0"/>
          <a:chExt cx="0" cy="0"/>
        </a:xfrm>
      </p:grpSpPr>
      <p:pic>
        <p:nvPicPr>
          <p:cNvPr id="2" name="Image 0" descr="/Users/zakwinnick/Documents/GitHub/WyldWandering/branding/wyld-wandering-brand-kit-v1/01-logos/png/ww-horizontal-light.png">    </p:cNvPr>
          <p:cNvPicPr>
            <a:picLocks noChangeAspect="1"/>
          </p:cNvPicPr>
          <p:nvPr/>
        </p:nvPicPr>
        <p:blipFill>
          <a:blip r:embed="rId1"/>
          <a:stretch>
            <a:fillRect/>
          </a:stretch>
        </p:blipFill>
        <p:spPr>
          <a:xfrm>
            <a:off x="400050" y="200025"/>
            <a:ext cx="2743200" cy="528935"/>
          </a:xfrm>
          <a:prstGeom prst="rect">
            <a:avLst/>
          </a:prstGeom>
        </p:spPr>
      </p:pic>
      <p:sp>
        <p:nvSpPr>
          <p:cNvPr id="3" name="Text 0"/>
          <p:cNvSpPr/>
          <p:nvPr/>
        </p:nvSpPr>
        <p:spPr>
          <a:xfrm>
            <a:off x="457200" y="1085850"/>
            <a:ext cx="8656511" cy="585788"/>
          </a:xfrm>
          <a:prstGeom prst="rect">
            <a:avLst/>
          </a:prstGeom>
          <a:noFill/>
          <a:ln/>
        </p:spPr>
        <p:txBody>
          <a:bodyPr wrap="square" lIns="0" tIns="0" rIns="0" bIns="0" rtlCol="0" anchor="t"/>
          <a:lstStyle/>
          <a:p>
            <a:pPr algn="l" indent="0" marL="0">
              <a:lnSpc>
                <a:spcPts val="4059"/>
              </a:lnSpc>
              <a:buNone/>
            </a:pPr>
            <a:r>
              <a:rPr lang="en-US" sz="3690" dirty="0">
                <a:solidFill>
                  <a:srgbClr val="0F1A14"/>
                </a:solidFill>
                <a:latin typeface="Georgia" pitchFamily="34" charset="0"/>
                <a:ea typeface="Georgia" pitchFamily="34" charset="-122"/>
                <a:cs typeface="Georgia" pitchFamily="34" charset="-120"/>
              </a:rPr>
              <a:t>The shape of your trip</a:t>
            </a:r>
            <a:endParaRPr lang="en-US" sz="3690" dirty="0"/>
          </a:p>
        </p:txBody>
      </p:sp>
      <p:sp>
        <p:nvSpPr>
          <p:cNvPr id="4" name="Text 1"/>
          <p:cNvSpPr/>
          <p:nvPr/>
        </p:nvSpPr>
        <p:spPr>
          <a:xfrm>
            <a:off x="514350" y="2000250"/>
            <a:ext cx="8598218" cy="214313"/>
          </a:xfrm>
          <a:prstGeom prst="rect">
            <a:avLst/>
          </a:prstGeom>
          <a:noFill/>
          <a:ln/>
        </p:spPr>
        <p:txBody>
          <a:bodyPr wrap="square" lIns="0" tIns="0" rIns="0" bIns="0" rtlCol="0" anchor="t"/>
          <a:lstStyle/>
          <a:p>
            <a:pPr algn="l" indent="0" marL="0">
              <a:lnSpc>
                <a:spcPts val="1485"/>
              </a:lnSpc>
              <a:buNone/>
            </a:pPr>
            <a:r>
              <a:rPr lang="en-US" sz="1350" dirty="0">
                <a:solidFill>
                  <a:srgbClr val="0F1A14"/>
                </a:solidFill>
                <a:latin typeface="Arial" pitchFamily="34" charset="0"/>
                <a:ea typeface="Arial" pitchFamily="34" charset="-122"/>
                <a:cs typeface="Arial" pitchFamily="34" charset="-120"/>
              </a:rPr>
              <a:t>[ A short introduction to this itinerary. ]</a:t>
            </a:r>
            <a:endParaRPr lang="en-US" sz="1350" dirty="0"/>
          </a:p>
        </p:txBody>
      </p:sp>
      <p:sp>
        <p:nvSpPr>
          <p:cNvPr id="5" name="Text 2"/>
          <p:cNvSpPr/>
          <p:nvPr/>
        </p:nvSpPr>
        <p:spPr>
          <a:xfrm>
            <a:off x="514350" y="2240161"/>
            <a:ext cx="8598218" cy="214313"/>
          </a:xfrm>
          <a:prstGeom prst="rect">
            <a:avLst/>
          </a:prstGeom>
          <a:noFill/>
          <a:ln/>
        </p:spPr>
        <p:txBody>
          <a:bodyPr wrap="square" lIns="0" tIns="0" rIns="0" bIns="0" rtlCol="0" anchor="t"/>
          <a:lstStyle/>
          <a:p>
            <a:pPr algn="l" indent="0" marL="0">
              <a:lnSpc>
                <a:spcPts val="1485"/>
              </a:lnSpc>
              <a:buNone/>
            </a:pPr>
            <a:r>
              <a:rPr lang="en-US" sz="1350" dirty="0">
                <a:solidFill>
                  <a:srgbClr val="0F1A14"/>
                </a:solidFill>
                <a:latin typeface="Arial" pitchFamily="34" charset="0"/>
                <a:ea typeface="Arial" pitchFamily="34" charset="-122"/>
                <a:cs typeface="Arial" pitchFamily="34" charset="-120"/>
              </a:rPr>
              <a:t>[ Explain how it reflects the client’s priorities. ]</a:t>
            </a:r>
            <a:endParaRPr lang="en-US" sz="1350" dirty="0"/>
          </a:p>
        </p:txBody>
      </p:sp>
      <p:sp>
        <p:nvSpPr>
          <p:cNvPr id="6" name="Text 3"/>
          <p:cNvSpPr/>
          <p:nvPr/>
        </p:nvSpPr>
        <p:spPr>
          <a:xfrm>
            <a:off x="514350" y="2886075"/>
            <a:ext cx="8115300" cy="8483"/>
          </a:xfrm>
          <a:prstGeom prst="rect">
            <a:avLst/>
          </a:prstGeom>
          <a:solidFill>
            <a:srgbClr val="E8E3DA"/>
          </a:solidFill>
          <a:ln/>
        </p:spPr>
        <p:txBody>
          <a:bodyPr wrap="square" rtlCol="0" anchor="ctr"/>
          <a:lstStyle/>
          <a:p>
            <a:pPr indent="0" marL="0">
              <a:buNone/>
            </a:pPr>
            <a:endParaRPr lang="en-US" dirty="0"/>
          </a:p>
        </p:txBody>
      </p:sp>
      <p:sp>
        <p:nvSpPr>
          <p:cNvPr id="7" name="Text 4"/>
          <p:cNvSpPr/>
          <p:nvPr/>
        </p:nvSpPr>
        <p:spPr>
          <a:xfrm>
            <a:off x="514350" y="3228975"/>
            <a:ext cx="8598218" cy="150019"/>
          </a:xfrm>
          <a:prstGeom prst="rect">
            <a:avLst/>
          </a:prstGeom>
          <a:noFill/>
          <a:ln/>
        </p:spPr>
        <p:txBody>
          <a:bodyPr wrap="square" lIns="0" tIns="0" rIns="0" bIns="0" rtlCol="0" anchor="t"/>
          <a:lstStyle/>
          <a:p>
            <a:pPr algn="l" indent="0" marL="0">
              <a:lnSpc>
                <a:spcPts val="1040"/>
              </a:lnSpc>
              <a:buNone/>
            </a:pPr>
            <a:r>
              <a:rPr lang="en-US" sz="945" dirty="0">
                <a:solidFill>
                  <a:srgbClr val="0F1A14"/>
                </a:solidFill>
                <a:latin typeface="Arial" pitchFamily="34" charset="0"/>
                <a:ea typeface="Arial" pitchFamily="34" charset="-122"/>
                <a:cs typeface="Arial" pitchFamily="34" charset="-120"/>
              </a:rPr>
              <a:t>WHEN</a:t>
            </a:r>
            <a:endParaRPr lang="en-US" sz="945" dirty="0"/>
          </a:p>
        </p:txBody>
      </p:sp>
      <p:sp>
        <p:nvSpPr>
          <p:cNvPr id="8" name="Text 5"/>
          <p:cNvSpPr/>
          <p:nvPr/>
        </p:nvSpPr>
        <p:spPr>
          <a:xfrm>
            <a:off x="514350" y="3600450"/>
            <a:ext cx="8598218" cy="321469"/>
          </a:xfrm>
          <a:prstGeom prst="rect">
            <a:avLst/>
          </a:prstGeom>
          <a:noFill/>
          <a:ln/>
        </p:spPr>
        <p:txBody>
          <a:bodyPr wrap="square" lIns="0" tIns="0" rIns="0" bIns="0" rtlCol="0" anchor="t"/>
          <a:lstStyle/>
          <a:p>
            <a:pPr algn="l" indent="0" marL="0">
              <a:lnSpc>
                <a:spcPts val="2228"/>
              </a:lnSpc>
              <a:buNone/>
            </a:pPr>
            <a:r>
              <a:rPr lang="en-US" sz="2025" dirty="0">
                <a:solidFill>
                  <a:srgbClr val="0F1A14"/>
                </a:solidFill>
                <a:latin typeface="Georgia" pitchFamily="34" charset="0"/>
                <a:ea typeface="Georgia" pitchFamily="34" charset="-122"/>
                <a:cs typeface="Georgia" pitchFamily="34" charset="-120"/>
              </a:rPr>
              <a:t>[ Dates ]</a:t>
            </a:r>
            <a:endParaRPr lang="en-US" sz="2025" dirty="0"/>
          </a:p>
        </p:txBody>
      </p:sp>
      <p:sp>
        <p:nvSpPr>
          <p:cNvPr id="9" name="Text 6"/>
          <p:cNvSpPr/>
          <p:nvPr/>
        </p:nvSpPr>
        <p:spPr>
          <a:xfrm>
            <a:off x="3543300" y="3228975"/>
            <a:ext cx="5508689" cy="150019"/>
          </a:xfrm>
          <a:prstGeom prst="rect">
            <a:avLst/>
          </a:prstGeom>
          <a:noFill/>
          <a:ln/>
        </p:spPr>
        <p:txBody>
          <a:bodyPr wrap="square" lIns="0" tIns="0" rIns="0" bIns="0" rtlCol="0" anchor="t"/>
          <a:lstStyle/>
          <a:p>
            <a:pPr algn="l" indent="0" marL="0">
              <a:lnSpc>
                <a:spcPts val="1040"/>
              </a:lnSpc>
              <a:buNone/>
            </a:pPr>
            <a:r>
              <a:rPr lang="en-US" sz="945" dirty="0">
                <a:solidFill>
                  <a:srgbClr val="0F1A14"/>
                </a:solidFill>
                <a:latin typeface="Arial" pitchFamily="34" charset="0"/>
                <a:ea typeface="Arial" pitchFamily="34" charset="-122"/>
                <a:cs typeface="Arial" pitchFamily="34" charset="-120"/>
              </a:rPr>
              <a:t>WHERE</a:t>
            </a:r>
            <a:endParaRPr lang="en-US" sz="945" dirty="0"/>
          </a:p>
        </p:txBody>
      </p:sp>
      <p:sp>
        <p:nvSpPr>
          <p:cNvPr id="10" name="Text 7"/>
          <p:cNvSpPr/>
          <p:nvPr/>
        </p:nvSpPr>
        <p:spPr>
          <a:xfrm>
            <a:off x="3543300" y="3600450"/>
            <a:ext cx="5508689" cy="321469"/>
          </a:xfrm>
          <a:prstGeom prst="rect">
            <a:avLst/>
          </a:prstGeom>
          <a:noFill/>
          <a:ln/>
        </p:spPr>
        <p:txBody>
          <a:bodyPr wrap="square" lIns="0" tIns="0" rIns="0" bIns="0" rtlCol="0" anchor="t"/>
          <a:lstStyle/>
          <a:p>
            <a:pPr algn="l" indent="0" marL="0">
              <a:lnSpc>
                <a:spcPts val="2228"/>
              </a:lnSpc>
              <a:buNone/>
            </a:pPr>
            <a:r>
              <a:rPr lang="en-US" sz="2025" dirty="0">
                <a:solidFill>
                  <a:srgbClr val="0F1A14"/>
                </a:solidFill>
                <a:latin typeface="Georgia" pitchFamily="34" charset="0"/>
                <a:ea typeface="Georgia" pitchFamily="34" charset="-122"/>
                <a:cs typeface="Georgia" pitchFamily="34" charset="-120"/>
              </a:rPr>
              <a:t>[ Places ]</a:t>
            </a:r>
            <a:endParaRPr lang="en-US" sz="2025" dirty="0"/>
          </a:p>
        </p:txBody>
      </p:sp>
      <p:sp>
        <p:nvSpPr>
          <p:cNvPr id="11" name="Text 8"/>
          <p:cNvSpPr/>
          <p:nvPr/>
        </p:nvSpPr>
        <p:spPr>
          <a:xfrm>
            <a:off x="6572250" y="3228975"/>
            <a:ext cx="2419160" cy="150019"/>
          </a:xfrm>
          <a:prstGeom prst="rect">
            <a:avLst/>
          </a:prstGeom>
          <a:noFill/>
          <a:ln/>
        </p:spPr>
        <p:txBody>
          <a:bodyPr wrap="square" lIns="0" tIns="0" rIns="0" bIns="0" rtlCol="0" anchor="t"/>
          <a:lstStyle/>
          <a:p>
            <a:pPr algn="l" indent="0" marL="0">
              <a:lnSpc>
                <a:spcPts val="1040"/>
              </a:lnSpc>
              <a:buNone/>
            </a:pPr>
            <a:r>
              <a:rPr lang="en-US" sz="945" dirty="0">
                <a:solidFill>
                  <a:srgbClr val="0F1A14"/>
                </a:solidFill>
                <a:latin typeface="Arial" pitchFamily="34" charset="0"/>
                <a:ea typeface="Arial" pitchFamily="34" charset="-122"/>
                <a:cs typeface="Arial" pitchFamily="34" charset="-120"/>
              </a:rPr>
              <a:t>PACE</a:t>
            </a:r>
            <a:endParaRPr lang="en-US" sz="945" dirty="0"/>
          </a:p>
        </p:txBody>
      </p:sp>
      <p:sp>
        <p:nvSpPr>
          <p:cNvPr id="12" name="Text 9"/>
          <p:cNvSpPr/>
          <p:nvPr/>
        </p:nvSpPr>
        <p:spPr>
          <a:xfrm>
            <a:off x="6572250" y="3600450"/>
            <a:ext cx="2419160" cy="321469"/>
          </a:xfrm>
          <a:prstGeom prst="rect">
            <a:avLst/>
          </a:prstGeom>
          <a:noFill/>
          <a:ln/>
        </p:spPr>
        <p:txBody>
          <a:bodyPr wrap="square" lIns="0" tIns="0" rIns="0" bIns="0" rtlCol="0" anchor="t"/>
          <a:lstStyle/>
          <a:p>
            <a:pPr algn="l" indent="0" marL="0">
              <a:lnSpc>
                <a:spcPts val="2228"/>
              </a:lnSpc>
              <a:buNone/>
            </a:pPr>
            <a:r>
              <a:rPr lang="en-US" sz="2025" dirty="0">
                <a:solidFill>
                  <a:srgbClr val="0F1A14"/>
                </a:solidFill>
                <a:latin typeface="Georgia" pitchFamily="34" charset="0"/>
                <a:ea typeface="Georgia" pitchFamily="34" charset="-122"/>
                <a:cs typeface="Georgia" pitchFamily="34" charset="-120"/>
              </a:rPr>
              <a:t>[ Trip style ]</a:t>
            </a:r>
            <a:endParaRPr lang="en-US" sz="2025" dirty="0"/>
          </a:p>
        </p:txBody>
      </p:sp>
      <p:sp>
        <p:nvSpPr>
          <p:cNvPr id="13" name="Text 10"/>
          <p:cNvSpPr/>
          <p:nvPr/>
        </p:nvSpPr>
        <p:spPr>
          <a:xfrm>
            <a:off x="514350" y="4657725"/>
            <a:ext cx="8598218" cy="142875"/>
          </a:xfrm>
          <a:prstGeom prst="rect">
            <a:avLst/>
          </a:prstGeom>
          <a:noFill/>
          <a:ln/>
        </p:spPr>
        <p:txBody>
          <a:bodyPr wrap="square" lIns="0" tIns="0" rIns="0" bIns="0" rtlCol="0" anchor="t"/>
          <a:lstStyle/>
          <a:p>
            <a:pPr algn="l" indent="0" marL="0">
              <a:lnSpc>
                <a:spcPts val="990"/>
              </a:lnSpc>
              <a:buNone/>
            </a:pPr>
            <a:r>
              <a:rPr lang="en-US" sz="900" dirty="0">
                <a:solidFill>
                  <a:srgbClr val="0F1A14"/>
                </a:solidFill>
                <a:latin typeface="Arial" pitchFamily="34" charset="0"/>
                <a:ea typeface="Arial" pitchFamily="34" charset="-122"/>
                <a:cs typeface="Arial" pitchFamily="34" charset="-120"/>
              </a:rPr>
              <a:t>Wyld Wandering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BF5"/>
        </a:solidFill>
      </p:bgPr>
    </p:bg>
    <p:spTree>
      <p:nvGrpSpPr>
        <p:cNvPr id="1" name=""/>
        <p:cNvGrpSpPr/>
        <p:nvPr/>
      </p:nvGrpSpPr>
      <p:grpSpPr>
        <a:xfrm>
          <a:off x="0" y="0"/>
          <a:ext cx="0" cy="0"/>
          <a:chOff x="0" y="0"/>
          <a:chExt cx="0" cy="0"/>
        </a:xfrm>
      </p:grpSpPr>
      <p:pic>
        <p:nvPicPr>
          <p:cNvPr id="2" name="Image 0" descr="/Users/zakwinnick/Documents/GitHub/WyldWandering/branding/wyld-wandering-brand-kit-v1/01-logos/png/ww-horizontal-light.png">    </p:cNvPr>
          <p:cNvPicPr>
            <a:picLocks noChangeAspect="1"/>
          </p:cNvPicPr>
          <p:nvPr/>
        </p:nvPicPr>
        <p:blipFill>
          <a:blip r:embed="rId1"/>
          <a:stretch>
            <a:fillRect/>
          </a:stretch>
        </p:blipFill>
        <p:spPr>
          <a:xfrm>
            <a:off x="371475" y="171450"/>
            <a:ext cx="2743200" cy="528935"/>
          </a:xfrm>
          <a:prstGeom prst="rect">
            <a:avLst/>
          </a:prstGeom>
        </p:spPr>
      </p:pic>
      <p:sp>
        <p:nvSpPr>
          <p:cNvPr id="3" name="Text 0"/>
          <p:cNvSpPr/>
          <p:nvPr/>
        </p:nvSpPr>
        <p:spPr>
          <a:xfrm>
            <a:off x="514350" y="1314450"/>
            <a:ext cx="8598218" cy="150019"/>
          </a:xfrm>
          <a:prstGeom prst="rect">
            <a:avLst/>
          </a:prstGeom>
          <a:noFill/>
          <a:ln/>
        </p:spPr>
        <p:txBody>
          <a:bodyPr wrap="square" lIns="0" tIns="0" rIns="0" bIns="0" rtlCol="0" anchor="t"/>
          <a:lstStyle/>
          <a:p>
            <a:pPr algn="l" indent="0" marL="0">
              <a:lnSpc>
                <a:spcPts val="1040"/>
              </a:lnSpc>
              <a:buNone/>
            </a:pPr>
            <a:r>
              <a:rPr lang="en-US" sz="945" dirty="0">
                <a:solidFill>
                  <a:srgbClr val="0F1A14"/>
                </a:solidFill>
                <a:latin typeface="Arial" pitchFamily="34" charset="0"/>
                <a:ea typeface="Arial" pitchFamily="34" charset="-122"/>
                <a:cs typeface="Arial" pitchFamily="34" charset="-120"/>
              </a:rPr>
              <a:t>THE DESTINATION</a:t>
            </a:r>
            <a:endParaRPr lang="en-US" sz="945" dirty="0"/>
          </a:p>
        </p:txBody>
      </p:sp>
      <p:sp>
        <p:nvSpPr>
          <p:cNvPr id="4" name="Text 1"/>
          <p:cNvSpPr/>
          <p:nvPr/>
        </p:nvSpPr>
        <p:spPr>
          <a:xfrm>
            <a:off x="457200" y="1800225"/>
            <a:ext cx="8656511" cy="528638"/>
          </a:xfrm>
          <a:prstGeom prst="rect">
            <a:avLst/>
          </a:prstGeom>
          <a:noFill/>
          <a:ln/>
        </p:spPr>
        <p:txBody>
          <a:bodyPr wrap="square" lIns="0" tIns="0" rIns="0" bIns="0" rtlCol="0" anchor="t"/>
          <a:lstStyle/>
          <a:p>
            <a:pPr algn="l" indent="0" marL="0">
              <a:lnSpc>
                <a:spcPts val="3663"/>
              </a:lnSpc>
              <a:buNone/>
            </a:pPr>
            <a:r>
              <a:rPr lang="en-US" sz="3330" dirty="0">
                <a:solidFill>
                  <a:srgbClr val="0F1A14"/>
                </a:solidFill>
                <a:latin typeface="Georgia" pitchFamily="34" charset="0"/>
                <a:ea typeface="Georgia" pitchFamily="34" charset="-122"/>
                <a:cs typeface="Georgia" pitchFamily="34" charset="-120"/>
              </a:rPr>
              <a:t>[ Place name ]</a:t>
            </a:r>
            <a:endParaRPr lang="en-US" sz="3330" dirty="0"/>
          </a:p>
        </p:txBody>
      </p:sp>
      <p:sp>
        <p:nvSpPr>
          <p:cNvPr id="5" name="Text 2"/>
          <p:cNvSpPr/>
          <p:nvPr/>
        </p:nvSpPr>
        <p:spPr>
          <a:xfrm>
            <a:off x="514350" y="2571750"/>
            <a:ext cx="8598218" cy="200025"/>
          </a:xfrm>
          <a:prstGeom prst="rect">
            <a:avLst/>
          </a:prstGeom>
          <a:noFill/>
          <a:ln/>
        </p:spPr>
        <p:txBody>
          <a:bodyPr wrap="square" lIns="0" tIns="0" rIns="0" bIns="0" rtlCol="0" anchor="t"/>
          <a:lstStyle/>
          <a:p>
            <a:pPr algn="l" indent="0" marL="0">
              <a:lnSpc>
                <a:spcPts val="1386"/>
              </a:lnSpc>
              <a:buNone/>
            </a:pPr>
            <a:r>
              <a:rPr lang="en-US" sz="1260" dirty="0">
                <a:solidFill>
                  <a:srgbClr val="0F1A14"/>
                </a:solidFill>
                <a:latin typeface="Arial" pitchFamily="34" charset="0"/>
                <a:ea typeface="Arial" pitchFamily="34" charset="-122"/>
                <a:cs typeface="Arial" pitchFamily="34" charset="-120"/>
              </a:rPr>
              <a:t>[ Why this place fits your trip. ]</a:t>
            </a:r>
            <a:endParaRPr lang="en-US" sz="1260" dirty="0"/>
          </a:p>
        </p:txBody>
      </p:sp>
      <p:sp>
        <p:nvSpPr>
          <p:cNvPr id="6" name="Text 3"/>
          <p:cNvSpPr/>
          <p:nvPr/>
        </p:nvSpPr>
        <p:spPr>
          <a:xfrm>
            <a:off x="514350" y="2795736"/>
            <a:ext cx="8598218" cy="200025"/>
          </a:xfrm>
          <a:prstGeom prst="rect">
            <a:avLst/>
          </a:prstGeom>
          <a:noFill/>
          <a:ln/>
        </p:spPr>
        <p:txBody>
          <a:bodyPr wrap="square" lIns="0" tIns="0" rIns="0" bIns="0" rtlCol="0" anchor="t"/>
          <a:lstStyle/>
          <a:p>
            <a:pPr algn="l" indent="0" marL="0">
              <a:lnSpc>
                <a:spcPts val="1386"/>
              </a:lnSpc>
              <a:buNone/>
            </a:pPr>
            <a:r>
              <a:rPr lang="en-US" sz="1260" dirty="0">
                <a:solidFill>
                  <a:srgbClr val="0F1A14"/>
                </a:solidFill>
                <a:latin typeface="Arial" pitchFamily="34" charset="0"/>
                <a:ea typeface="Arial" pitchFamily="34" charset="-122"/>
                <a:cs typeface="Arial" pitchFamily="34" charset="-120"/>
              </a:rPr>
              <a:t>[ The detail that makes it special. ]</a:t>
            </a:r>
            <a:endParaRPr lang="en-US" sz="1260" dirty="0"/>
          </a:p>
        </p:txBody>
      </p:sp>
      <p:sp>
        <p:nvSpPr>
          <p:cNvPr id="7" name="Text 4"/>
          <p:cNvSpPr/>
          <p:nvPr/>
        </p:nvSpPr>
        <p:spPr>
          <a:xfrm>
            <a:off x="514350" y="3019723"/>
            <a:ext cx="8598218" cy="200025"/>
          </a:xfrm>
          <a:prstGeom prst="rect">
            <a:avLst/>
          </a:prstGeom>
          <a:noFill/>
          <a:ln/>
        </p:spPr>
        <p:txBody>
          <a:bodyPr wrap="square" lIns="0" tIns="0" rIns="0" bIns="0" rtlCol="0" anchor="t"/>
          <a:lstStyle/>
          <a:p>
            <a:pPr algn="l" indent="0" marL="0">
              <a:lnSpc>
                <a:spcPts val="1386"/>
              </a:lnSpc>
              <a:buNone/>
            </a:pPr>
            <a:r>
              <a:rPr lang="en-US" sz="1260" dirty="0">
                <a:solidFill>
                  <a:srgbClr val="0F1A14"/>
                </a:solidFill>
                <a:latin typeface="Arial" pitchFamily="34" charset="0"/>
                <a:ea typeface="Arial" pitchFamily="34" charset="-122"/>
                <a:cs typeface="Arial" pitchFamily="34" charset="-120"/>
              </a:rPr>
              <a:t>[ Best time to explore. ]</a:t>
            </a:r>
            <a:endParaRPr lang="en-US" sz="1260" dirty="0"/>
          </a:p>
        </p:txBody>
      </p:sp>
      <p:sp>
        <p:nvSpPr>
          <p:cNvPr id="8" name="Text 5"/>
          <p:cNvSpPr/>
          <p:nvPr/>
        </p:nvSpPr>
        <p:spPr>
          <a:xfrm>
            <a:off x="4857750" y="1028700"/>
            <a:ext cx="3771900" cy="3486150"/>
          </a:xfrm>
          <a:prstGeom prst="rect">
            <a:avLst/>
          </a:prstGeom>
          <a:solidFill>
            <a:srgbClr val="E8E3DA"/>
          </a:solidFill>
          <a:ln/>
        </p:spPr>
        <p:txBody>
          <a:bodyPr wrap="square" rtlCol="0" anchor="ctr"/>
          <a:lstStyle/>
          <a:p>
            <a:pPr indent="0" marL="0">
              <a:buNone/>
            </a:pPr>
            <a:endParaRPr lang="en-US" dirty="0"/>
          </a:p>
        </p:txBody>
      </p:sp>
      <p:sp>
        <p:nvSpPr>
          <p:cNvPr id="9" name="Text 6"/>
          <p:cNvSpPr/>
          <p:nvPr/>
        </p:nvSpPr>
        <p:spPr>
          <a:xfrm>
            <a:off x="4295394" y="2714625"/>
            <a:ext cx="4896612" cy="200025"/>
          </a:xfrm>
          <a:prstGeom prst="rect">
            <a:avLst/>
          </a:prstGeom>
          <a:noFill/>
          <a:ln/>
        </p:spPr>
        <p:txBody>
          <a:bodyPr wrap="square" lIns="0" tIns="0" rIns="0" bIns="0" rtlCol="0" anchor="t"/>
          <a:lstStyle/>
          <a:p>
            <a:pPr algn="ctr" indent="0" marL="0">
              <a:lnSpc>
                <a:spcPts val="1386"/>
              </a:lnSpc>
              <a:buNone/>
            </a:pPr>
            <a:r>
              <a:rPr lang="en-US" sz="1260" dirty="0">
                <a:solidFill>
                  <a:srgbClr val="0F1A14"/>
                </a:solidFill>
                <a:latin typeface="Arial" pitchFamily="34" charset="0"/>
                <a:ea typeface="Arial" pitchFamily="34" charset="-122"/>
                <a:cs typeface="Arial" pitchFamily="34" charset="-120"/>
              </a:rPr>
              <a:t>[ Add destination photo ]</a:t>
            </a:r>
            <a:endParaRPr lang="en-US" sz="1260" dirty="0"/>
          </a:p>
        </p:txBody>
      </p:sp>
      <p:sp>
        <p:nvSpPr>
          <p:cNvPr id="10" name="Text 7"/>
          <p:cNvSpPr/>
          <p:nvPr/>
        </p:nvSpPr>
        <p:spPr>
          <a:xfrm>
            <a:off x="514350" y="4657725"/>
            <a:ext cx="8598218" cy="142875"/>
          </a:xfrm>
          <a:prstGeom prst="rect">
            <a:avLst/>
          </a:prstGeom>
          <a:noFill/>
          <a:ln/>
        </p:spPr>
        <p:txBody>
          <a:bodyPr wrap="square" lIns="0" tIns="0" rIns="0" bIns="0" rtlCol="0" anchor="t"/>
          <a:lstStyle/>
          <a:p>
            <a:pPr algn="l" indent="0" marL="0">
              <a:lnSpc>
                <a:spcPts val="990"/>
              </a:lnSpc>
              <a:buNone/>
            </a:pPr>
            <a:r>
              <a:rPr lang="en-US" sz="900" dirty="0">
                <a:solidFill>
                  <a:srgbClr val="0F1A14"/>
                </a:solidFill>
                <a:latin typeface="Arial" pitchFamily="34" charset="0"/>
                <a:ea typeface="Arial" pitchFamily="34" charset="-122"/>
                <a:cs typeface="Arial" pitchFamily="34" charset="-120"/>
              </a:rPr>
              <a:t>Wyld Wandering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A14"/>
        </a:solidFill>
      </p:bgPr>
    </p:bg>
    <p:spTree>
      <p:nvGrpSpPr>
        <p:cNvPr id="1" name=""/>
        <p:cNvGrpSpPr/>
        <p:nvPr/>
      </p:nvGrpSpPr>
      <p:grpSpPr>
        <a:xfrm>
          <a:off x="0" y="0"/>
          <a:ext cx="0" cy="0"/>
          <a:chOff x="0" y="0"/>
          <a:chExt cx="0" cy="0"/>
        </a:xfrm>
      </p:grpSpPr>
      <p:pic>
        <p:nvPicPr>
          <p:cNvPr id="2" name="Image 0" descr="/Users/zakwinnick/Documents/GitHub/WyldWandering/branding/wyld-wandering-brand-kit-v1/01-logos/png/ww-horizontal-dark.png">    </p:cNvPr>
          <p:cNvPicPr>
            <a:picLocks noChangeAspect="1"/>
          </p:cNvPicPr>
          <p:nvPr/>
        </p:nvPicPr>
        <p:blipFill>
          <a:blip r:embed="rId1"/>
          <a:stretch>
            <a:fillRect/>
          </a:stretch>
        </p:blipFill>
        <p:spPr>
          <a:xfrm>
            <a:off x="371475" y="171450"/>
            <a:ext cx="2743200" cy="528935"/>
          </a:xfrm>
          <a:prstGeom prst="rect">
            <a:avLst/>
          </a:prstGeom>
        </p:spPr>
      </p:pic>
      <p:sp>
        <p:nvSpPr>
          <p:cNvPr id="3" name="Text 0"/>
          <p:cNvSpPr/>
          <p:nvPr/>
        </p:nvSpPr>
        <p:spPr>
          <a:xfrm>
            <a:off x="514350" y="1057275"/>
            <a:ext cx="3771900" cy="3314700"/>
          </a:xfrm>
          <a:prstGeom prst="rect">
            <a:avLst/>
          </a:prstGeom>
          <a:solidFill>
            <a:srgbClr val="26382C"/>
          </a:solidFill>
          <a:ln/>
        </p:spPr>
        <p:txBody>
          <a:bodyPr wrap="square" rtlCol="0" anchor="ctr"/>
          <a:lstStyle/>
          <a:p>
            <a:pPr indent="0" marL="0">
              <a:buNone/>
            </a:pPr>
            <a:endParaRPr lang="en-US" dirty="0"/>
          </a:p>
        </p:txBody>
      </p:sp>
      <p:sp>
        <p:nvSpPr>
          <p:cNvPr id="4" name="Text 1"/>
          <p:cNvSpPr/>
          <p:nvPr/>
        </p:nvSpPr>
        <p:spPr>
          <a:xfrm>
            <a:off x="-48006" y="2571750"/>
            <a:ext cx="4896612" cy="200025"/>
          </a:xfrm>
          <a:prstGeom prst="rect">
            <a:avLst/>
          </a:prstGeom>
          <a:noFill/>
          <a:ln/>
        </p:spPr>
        <p:txBody>
          <a:bodyPr wrap="square" lIns="0" tIns="0" rIns="0" bIns="0" rtlCol="0" anchor="t"/>
          <a:lstStyle/>
          <a:p>
            <a:pPr algn="ctr" indent="0" marL="0">
              <a:lnSpc>
                <a:spcPts val="1386"/>
              </a:lnSpc>
              <a:buNone/>
            </a:pPr>
            <a:r>
              <a:rPr lang="en-US" sz="1260" dirty="0">
                <a:solidFill>
                  <a:srgbClr val="FFFBF5"/>
                </a:solidFill>
                <a:latin typeface="Arial" pitchFamily="34" charset="0"/>
                <a:ea typeface="Arial" pitchFamily="34" charset="-122"/>
                <a:cs typeface="Arial" pitchFamily="34" charset="-120"/>
              </a:rPr>
              <a:t>[ Add property photo ]</a:t>
            </a:r>
            <a:endParaRPr lang="en-US" sz="1260" dirty="0"/>
          </a:p>
        </p:txBody>
      </p:sp>
      <p:sp>
        <p:nvSpPr>
          <p:cNvPr id="5" name="Text 2"/>
          <p:cNvSpPr/>
          <p:nvPr/>
        </p:nvSpPr>
        <p:spPr>
          <a:xfrm>
            <a:off x="4800600" y="1257300"/>
            <a:ext cx="4226243" cy="150019"/>
          </a:xfrm>
          <a:prstGeom prst="rect">
            <a:avLst/>
          </a:prstGeom>
          <a:noFill/>
          <a:ln/>
        </p:spPr>
        <p:txBody>
          <a:bodyPr wrap="square" lIns="0" tIns="0" rIns="0" bIns="0" rtlCol="0" anchor="t"/>
          <a:lstStyle/>
          <a:p>
            <a:pPr algn="l" indent="0" marL="0">
              <a:lnSpc>
                <a:spcPts val="1040"/>
              </a:lnSpc>
              <a:buNone/>
            </a:pPr>
            <a:r>
              <a:rPr lang="en-US" sz="945" dirty="0">
                <a:solidFill>
                  <a:srgbClr val="FFFBF5"/>
                </a:solidFill>
                <a:latin typeface="Arial" pitchFamily="34" charset="0"/>
                <a:ea typeface="Arial" pitchFamily="34" charset="-122"/>
                <a:cs typeface="Arial" pitchFamily="34" charset="-120"/>
              </a:rPr>
              <a:t>YOUR STAY</a:t>
            </a:r>
            <a:endParaRPr lang="en-US" sz="945" dirty="0"/>
          </a:p>
        </p:txBody>
      </p:sp>
      <p:sp>
        <p:nvSpPr>
          <p:cNvPr id="6" name="Text 3"/>
          <p:cNvSpPr/>
          <p:nvPr/>
        </p:nvSpPr>
        <p:spPr>
          <a:xfrm>
            <a:off x="4743450" y="1771650"/>
            <a:ext cx="4284536" cy="478631"/>
          </a:xfrm>
          <a:prstGeom prst="rect">
            <a:avLst/>
          </a:prstGeom>
          <a:noFill/>
          <a:ln/>
        </p:spPr>
        <p:txBody>
          <a:bodyPr wrap="square" lIns="0" tIns="0" rIns="0" bIns="0" rtlCol="0" anchor="t"/>
          <a:lstStyle/>
          <a:p>
            <a:pPr algn="l" indent="0" marL="0">
              <a:lnSpc>
                <a:spcPts val="3317"/>
              </a:lnSpc>
              <a:buNone/>
            </a:pPr>
            <a:r>
              <a:rPr lang="en-US" sz="3015" dirty="0">
                <a:solidFill>
                  <a:srgbClr val="FFFBF5"/>
                </a:solidFill>
                <a:latin typeface="Georgia" pitchFamily="34" charset="0"/>
                <a:ea typeface="Georgia" pitchFamily="34" charset="-122"/>
                <a:cs typeface="Georgia" pitchFamily="34" charset="-120"/>
              </a:rPr>
              <a:t>[ Hotel name ]</a:t>
            </a:r>
            <a:endParaRPr lang="en-US" sz="3015" dirty="0"/>
          </a:p>
        </p:txBody>
      </p:sp>
      <p:sp>
        <p:nvSpPr>
          <p:cNvPr id="7" name="Text 4"/>
          <p:cNvSpPr/>
          <p:nvPr/>
        </p:nvSpPr>
        <p:spPr>
          <a:xfrm>
            <a:off x="4800600" y="2514600"/>
            <a:ext cx="4226243" cy="192881"/>
          </a:xfrm>
          <a:prstGeom prst="rect">
            <a:avLst/>
          </a:prstGeom>
          <a:noFill/>
          <a:ln/>
        </p:spPr>
        <p:txBody>
          <a:bodyPr wrap="square" lIns="0" tIns="0" rIns="0" bIns="0" rtlCol="0" anchor="t"/>
          <a:lstStyle/>
          <a:p>
            <a:pPr algn="l" indent="0" marL="0">
              <a:lnSpc>
                <a:spcPts val="1337"/>
              </a:lnSpc>
              <a:buNone/>
            </a:pPr>
            <a:r>
              <a:rPr lang="en-US" sz="1215" dirty="0">
                <a:solidFill>
                  <a:srgbClr val="FFFBF5"/>
                </a:solidFill>
                <a:latin typeface="Arial" pitchFamily="34" charset="0"/>
                <a:ea typeface="Arial" pitchFamily="34" charset="-122"/>
                <a:cs typeface="Arial" pitchFamily="34" charset="-120"/>
              </a:rPr>
              <a:t>[ Location and character ]</a:t>
            </a:r>
            <a:endParaRPr lang="en-US" sz="1215" dirty="0"/>
          </a:p>
        </p:txBody>
      </p:sp>
      <p:sp>
        <p:nvSpPr>
          <p:cNvPr id="8" name="Text 5"/>
          <p:cNvSpPr/>
          <p:nvPr/>
        </p:nvSpPr>
        <p:spPr>
          <a:xfrm>
            <a:off x="4800600" y="2792313"/>
            <a:ext cx="4226243" cy="192881"/>
          </a:xfrm>
          <a:prstGeom prst="rect">
            <a:avLst/>
          </a:prstGeom>
          <a:noFill/>
          <a:ln/>
        </p:spPr>
        <p:txBody>
          <a:bodyPr wrap="square" lIns="0" tIns="0" rIns="0" bIns="0" rtlCol="0" anchor="t"/>
          <a:lstStyle/>
          <a:p>
            <a:pPr algn="l" indent="0" marL="0">
              <a:lnSpc>
                <a:spcPts val="1337"/>
              </a:lnSpc>
              <a:buNone/>
            </a:pPr>
            <a:r>
              <a:rPr lang="en-US" sz="1215" dirty="0">
                <a:solidFill>
                  <a:srgbClr val="FFFBF5"/>
                </a:solidFill>
                <a:latin typeface="Arial" pitchFamily="34" charset="0"/>
                <a:ea typeface="Arial" pitchFamily="34" charset="-122"/>
                <a:cs typeface="Arial" pitchFamily="34" charset="-120"/>
              </a:rPr>
              <a:t>[ Recommended room category ]</a:t>
            </a:r>
            <a:endParaRPr lang="en-US" sz="1215" dirty="0"/>
          </a:p>
        </p:txBody>
      </p:sp>
      <p:sp>
        <p:nvSpPr>
          <p:cNvPr id="9" name="Text 6"/>
          <p:cNvSpPr/>
          <p:nvPr/>
        </p:nvSpPr>
        <p:spPr>
          <a:xfrm>
            <a:off x="4800600" y="3070027"/>
            <a:ext cx="4226243" cy="192881"/>
          </a:xfrm>
          <a:prstGeom prst="rect">
            <a:avLst/>
          </a:prstGeom>
          <a:noFill/>
          <a:ln/>
        </p:spPr>
        <p:txBody>
          <a:bodyPr wrap="square" lIns="0" tIns="0" rIns="0" bIns="0" rtlCol="0" anchor="t"/>
          <a:lstStyle/>
          <a:p>
            <a:pPr algn="l" indent="0" marL="0">
              <a:lnSpc>
                <a:spcPts val="1337"/>
              </a:lnSpc>
              <a:buNone/>
            </a:pPr>
            <a:r>
              <a:rPr lang="en-US" sz="1215" dirty="0">
                <a:solidFill>
                  <a:srgbClr val="FFFBF5"/>
                </a:solidFill>
                <a:latin typeface="Arial" pitchFamily="34" charset="0"/>
                <a:ea typeface="Arial" pitchFamily="34" charset="-122"/>
                <a:cs typeface="Arial" pitchFamily="34" charset="-120"/>
              </a:rPr>
              <a:t>[ Confirmed inclusions ]</a:t>
            </a:r>
            <a:endParaRPr lang="en-US" sz="1215" dirty="0"/>
          </a:p>
        </p:txBody>
      </p:sp>
      <p:sp>
        <p:nvSpPr>
          <p:cNvPr id="10" name="Text 7"/>
          <p:cNvSpPr/>
          <p:nvPr/>
        </p:nvSpPr>
        <p:spPr>
          <a:xfrm>
            <a:off x="4800600" y="3347740"/>
            <a:ext cx="4226243" cy="192881"/>
          </a:xfrm>
          <a:prstGeom prst="rect">
            <a:avLst/>
          </a:prstGeom>
          <a:noFill/>
          <a:ln/>
        </p:spPr>
        <p:txBody>
          <a:bodyPr wrap="square" lIns="0" tIns="0" rIns="0" bIns="0" rtlCol="0" anchor="t"/>
          <a:lstStyle/>
          <a:p>
            <a:pPr algn="l" indent="0" marL="0">
              <a:lnSpc>
                <a:spcPts val="1337"/>
              </a:lnSpc>
              <a:buNone/>
            </a:pPr>
            <a:r>
              <a:rPr lang="en-US" sz="1215" dirty="0">
                <a:solidFill>
                  <a:srgbClr val="FFFBF5"/>
                </a:solidFill>
                <a:latin typeface="Arial" pitchFamily="34" charset="0"/>
                <a:ea typeface="Arial" pitchFamily="34" charset="-122"/>
                <a:cs typeface="Arial" pitchFamily="34" charset="-120"/>
              </a:rPr>
              <a:t>[ Dates and booking conditions ]</a:t>
            </a:r>
            <a:endParaRPr lang="en-US" sz="1215" dirty="0"/>
          </a:p>
        </p:txBody>
      </p:sp>
      <p:sp>
        <p:nvSpPr>
          <p:cNvPr id="11" name="Text 8"/>
          <p:cNvSpPr/>
          <p:nvPr/>
        </p:nvSpPr>
        <p:spPr>
          <a:xfrm>
            <a:off x="514350" y="4657725"/>
            <a:ext cx="8598218" cy="142875"/>
          </a:xfrm>
          <a:prstGeom prst="rect">
            <a:avLst/>
          </a:prstGeom>
          <a:noFill/>
          <a:ln/>
        </p:spPr>
        <p:txBody>
          <a:bodyPr wrap="square" lIns="0" tIns="0" rIns="0" bIns="0" rtlCol="0" anchor="t"/>
          <a:lstStyle/>
          <a:p>
            <a:pPr algn="l" indent="0" marL="0">
              <a:lnSpc>
                <a:spcPts val="990"/>
              </a:lnSpc>
              <a:buNone/>
            </a:pPr>
            <a:r>
              <a:rPr lang="en-US" sz="900" dirty="0">
                <a:solidFill>
                  <a:srgbClr val="FFFBF5"/>
                </a:solidFill>
                <a:latin typeface="Arial" pitchFamily="34" charset="0"/>
                <a:ea typeface="Arial" pitchFamily="34" charset="-122"/>
                <a:cs typeface="Arial" pitchFamily="34" charset="-120"/>
              </a:rPr>
              <a:t>Wyld Wandering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BF5"/>
        </a:solidFill>
      </p:bgPr>
    </p:bg>
    <p:spTree>
      <p:nvGrpSpPr>
        <p:cNvPr id="1" name=""/>
        <p:cNvGrpSpPr/>
        <p:nvPr/>
      </p:nvGrpSpPr>
      <p:grpSpPr>
        <a:xfrm>
          <a:off x="0" y="0"/>
          <a:ext cx="0" cy="0"/>
          <a:chOff x="0" y="0"/>
          <a:chExt cx="0" cy="0"/>
        </a:xfrm>
      </p:grpSpPr>
      <p:pic>
        <p:nvPicPr>
          <p:cNvPr id="2" name="Image 0" descr="/Users/zakwinnick/Documents/GitHub/WyldWandering/branding/wyld-wandering-brand-kit-v1/01-logos/png/ww-horizontal-light.png">    </p:cNvPr>
          <p:cNvPicPr>
            <a:picLocks noChangeAspect="1"/>
          </p:cNvPicPr>
          <p:nvPr/>
        </p:nvPicPr>
        <p:blipFill>
          <a:blip r:embed="rId1"/>
          <a:stretch>
            <a:fillRect/>
          </a:stretch>
        </p:blipFill>
        <p:spPr>
          <a:xfrm>
            <a:off x="371475" y="171450"/>
            <a:ext cx="2743200" cy="528935"/>
          </a:xfrm>
          <a:prstGeom prst="rect">
            <a:avLst/>
          </a:prstGeom>
        </p:spPr>
      </p:pic>
      <p:sp>
        <p:nvSpPr>
          <p:cNvPr id="3" name="Text 0"/>
          <p:cNvSpPr/>
          <p:nvPr/>
        </p:nvSpPr>
        <p:spPr>
          <a:xfrm>
            <a:off x="457200" y="1057275"/>
            <a:ext cx="8656511" cy="514350"/>
          </a:xfrm>
          <a:prstGeom prst="rect">
            <a:avLst/>
          </a:prstGeom>
          <a:noFill/>
          <a:ln/>
        </p:spPr>
        <p:txBody>
          <a:bodyPr wrap="square" lIns="0" tIns="0" rIns="0" bIns="0" rtlCol="0" anchor="t"/>
          <a:lstStyle/>
          <a:p>
            <a:pPr algn="l" indent="0" marL="0">
              <a:lnSpc>
                <a:spcPts val="3564"/>
              </a:lnSpc>
              <a:buNone/>
            </a:pPr>
            <a:r>
              <a:rPr lang="en-US" sz="3240" dirty="0">
                <a:solidFill>
                  <a:srgbClr val="0F1A14"/>
                </a:solidFill>
                <a:latin typeface="Georgia" pitchFamily="34" charset="0"/>
                <a:ea typeface="Georgia" pitchFamily="34" charset="-122"/>
                <a:cs typeface="Georgia" pitchFamily="34" charset="-120"/>
              </a:rPr>
              <a:t>A few days, thoughtfully planned.</a:t>
            </a:r>
            <a:endParaRPr lang="en-US" sz="3240" dirty="0"/>
          </a:p>
        </p:txBody>
      </p:sp>
      <p:sp>
        <p:nvSpPr>
          <p:cNvPr id="4" name="Text 1"/>
          <p:cNvSpPr/>
          <p:nvPr/>
        </p:nvSpPr>
        <p:spPr>
          <a:xfrm>
            <a:off x="514350" y="1943100"/>
            <a:ext cx="8598218" cy="142875"/>
          </a:xfrm>
          <a:prstGeom prst="rect">
            <a:avLst/>
          </a:prstGeom>
          <a:noFill/>
          <a:ln/>
        </p:spPr>
        <p:txBody>
          <a:bodyPr wrap="square" lIns="0" tIns="0" rIns="0" bIns="0" rtlCol="0" anchor="t"/>
          <a:lstStyle/>
          <a:p>
            <a:pPr algn="l" indent="0" marL="0">
              <a:lnSpc>
                <a:spcPts val="990"/>
              </a:lnSpc>
              <a:buNone/>
            </a:pPr>
            <a:r>
              <a:rPr lang="en-US" sz="900" dirty="0">
                <a:solidFill>
                  <a:srgbClr val="0F1A14"/>
                </a:solidFill>
                <a:latin typeface="Arial" pitchFamily="34" charset="0"/>
                <a:ea typeface="Arial" pitchFamily="34" charset="-122"/>
                <a:cs typeface="Arial" pitchFamily="34" charset="-120"/>
              </a:rPr>
              <a:t>DAY 01</a:t>
            </a:r>
            <a:endParaRPr lang="en-US" sz="900" dirty="0"/>
          </a:p>
        </p:txBody>
      </p:sp>
      <p:sp>
        <p:nvSpPr>
          <p:cNvPr id="5" name="Text 2"/>
          <p:cNvSpPr/>
          <p:nvPr/>
        </p:nvSpPr>
        <p:spPr>
          <a:xfrm>
            <a:off x="2171700" y="1863030"/>
            <a:ext cx="6907721" cy="285750"/>
          </a:xfrm>
          <a:prstGeom prst="rect">
            <a:avLst/>
          </a:prstGeom>
          <a:noFill/>
          <a:ln/>
        </p:spPr>
        <p:txBody>
          <a:bodyPr wrap="square" lIns="0" tIns="0" rIns="0" bIns="0" rtlCol="0" anchor="t"/>
          <a:lstStyle/>
          <a:p>
            <a:pPr algn="l" indent="0" marL="0">
              <a:lnSpc>
                <a:spcPts val="1980"/>
              </a:lnSpc>
              <a:buNone/>
            </a:pPr>
            <a:r>
              <a:rPr lang="en-US" sz="1800" dirty="0">
                <a:solidFill>
                  <a:srgbClr val="0F1A14"/>
                </a:solidFill>
                <a:latin typeface="Georgia" pitchFamily="34" charset="0"/>
                <a:ea typeface="Georgia" pitchFamily="34" charset="-122"/>
                <a:cs typeface="Georgia" pitchFamily="34" charset="-120"/>
              </a:rPr>
              <a:t>[ Arrival and settling in ]</a:t>
            </a:r>
            <a:endParaRPr lang="en-US" sz="1800" dirty="0"/>
          </a:p>
        </p:txBody>
      </p:sp>
      <p:sp>
        <p:nvSpPr>
          <p:cNvPr id="6" name="Text 3"/>
          <p:cNvSpPr/>
          <p:nvPr/>
        </p:nvSpPr>
        <p:spPr>
          <a:xfrm>
            <a:off x="2171700" y="2257425"/>
            <a:ext cx="6907721" cy="192881"/>
          </a:xfrm>
          <a:prstGeom prst="rect">
            <a:avLst/>
          </a:prstGeom>
          <a:noFill/>
          <a:ln/>
        </p:spPr>
        <p:txBody>
          <a:bodyPr wrap="square" lIns="0" tIns="0" rIns="0" bIns="0" rtlCol="0" anchor="t"/>
          <a:lstStyle/>
          <a:p>
            <a:pPr algn="l" indent="0" marL="0">
              <a:lnSpc>
                <a:spcPts val="1337"/>
              </a:lnSpc>
              <a:buNone/>
            </a:pPr>
            <a:r>
              <a:rPr lang="en-US" sz="1215" dirty="0">
                <a:solidFill>
                  <a:srgbClr val="0F1A14"/>
                </a:solidFill>
                <a:latin typeface="Arial" pitchFamily="34" charset="0"/>
                <a:ea typeface="Arial" pitchFamily="34" charset="-122"/>
                <a:cs typeface="Arial" pitchFamily="34" charset="-120"/>
              </a:rPr>
              <a:t>[ Transfer, check-in and an easy first evening. ]</a:t>
            </a:r>
            <a:endParaRPr lang="en-US" sz="1215" dirty="0"/>
          </a:p>
        </p:txBody>
      </p:sp>
      <p:sp>
        <p:nvSpPr>
          <p:cNvPr id="7" name="Text 4"/>
          <p:cNvSpPr/>
          <p:nvPr/>
        </p:nvSpPr>
        <p:spPr>
          <a:xfrm>
            <a:off x="514350" y="2657475"/>
            <a:ext cx="8115300" cy="8483"/>
          </a:xfrm>
          <a:prstGeom prst="rect">
            <a:avLst/>
          </a:prstGeom>
          <a:solidFill>
            <a:srgbClr val="E8E3DA"/>
          </a:solidFill>
          <a:ln/>
        </p:spPr>
        <p:txBody>
          <a:bodyPr wrap="square" rtlCol="0" anchor="ctr"/>
          <a:lstStyle/>
          <a:p>
            <a:pPr indent="0" marL="0">
              <a:buNone/>
            </a:pPr>
            <a:endParaRPr lang="en-US" dirty="0"/>
          </a:p>
        </p:txBody>
      </p:sp>
      <p:sp>
        <p:nvSpPr>
          <p:cNvPr id="8" name="Text 5"/>
          <p:cNvSpPr/>
          <p:nvPr/>
        </p:nvSpPr>
        <p:spPr>
          <a:xfrm>
            <a:off x="514350" y="2971800"/>
            <a:ext cx="8598218" cy="142875"/>
          </a:xfrm>
          <a:prstGeom prst="rect">
            <a:avLst/>
          </a:prstGeom>
          <a:noFill/>
          <a:ln/>
        </p:spPr>
        <p:txBody>
          <a:bodyPr wrap="square" lIns="0" tIns="0" rIns="0" bIns="0" rtlCol="0" anchor="t"/>
          <a:lstStyle/>
          <a:p>
            <a:pPr algn="l" indent="0" marL="0">
              <a:lnSpc>
                <a:spcPts val="990"/>
              </a:lnSpc>
              <a:buNone/>
            </a:pPr>
            <a:r>
              <a:rPr lang="en-US" sz="900" dirty="0">
                <a:solidFill>
                  <a:srgbClr val="0F1A14"/>
                </a:solidFill>
                <a:latin typeface="Arial" pitchFamily="34" charset="0"/>
                <a:ea typeface="Arial" pitchFamily="34" charset="-122"/>
                <a:cs typeface="Arial" pitchFamily="34" charset="-120"/>
              </a:rPr>
              <a:t>DAY 02</a:t>
            </a:r>
            <a:endParaRPr lang="en-US" sz="900" dirty="0"/>
          </a:p>
        </p:txBody>
      </p:sp>
      <p:sp>
        <p:nvSpPr>
          <p:cNvPr id="9" name="Text 6"/>
          <p:cNvSpPr/>
          <p:nvPr/>
        </p:nvSpPr>
        <p:spPr>
          <a:xfrm>
            <a:off x="2171700" y="2891730"/>
            <a:ext cx="6907721" cy="285750"/>
          </a:xfrm>
          <a:prstGeom prst="rect">
            <a:avLst/>
          </a:prstGeom>
          <a:noFill/>
          <a:ln/>
        </p:spPr>
        <p:txBody>
          <a:bodyPr wrap="square" lIns="0" tIns="0" rIns="0" bIns="0" rtlCol="0" anchor="t"/>
          <a:lstStyle/>
          <a:p>
            <a:pPr algn="l" indent="0" marL="0">
              <a:lnSpc>
                <a:spcPts val="1980"/>
              </a:lnSpc>
              <a:buNone/>
            </a:pPr>
            <a:r>
              <a:rPr lang="en-US" sz="1800" dirty="0">
                <a:solidFill>
                  <a:srgbClr val="0F1A14"/>
                </a:solidFill>
                <a:latin typeface="Georgia" pitchFamily="34" charset="0"/>
                <a:ea typeface="Georgia" pitchFamily="34" charset="-122"/>
                <a:cs typeface="Georgia" pitchFamily="34" charset="-120"/>
              </a:rPr>
              <a:t>[ Explore at your pace ]</a:t>
            </a:r>
            <a:endParaRPr lang="en-US" sz="1800" dirty="0"/>
          </a:p>
        </p:txBody>
      </p:sp>
      <p:sp>
        <p:nvSpPr>
          <p:cNvPr id="10" name="Text 7"/>
          <p:cNvSpPr/>
          <p:nvPr/>
        </p:nvSpPr>
        <p:spPr>
          <a:xfrm>
            <a:off x="2171700" y="3286125"/>
            <a:ext cx="6907721" cy="192881"/>
          </a:xfrm>
          <a:prstGeom prst="rect">
            <a:avLst/>
          </a:prstGeom>
          <a:noFill/>
          <a:ln/>
        </p:spPr>
        <p:txBody>
          <a:bodyPr wrap="square" lIns="0" tIns="0" rIns="0" bIns="0" rtlCol="0" anchor="t"/>
          <a:lstStyle/>
          <a:p>
            <a:pPr algn="l" indent="0" marL="0">
              <a:lnSpc>
                <a:spcPts val="1337"/>
              </a:lnSpc>
              <a:buNone/>
            </a:pPr>
            <a:r>
              <a:rPr lang="en-US" sz="1215" dirty="0">
                <a:solidFill>
                  <a:srgbClr val="0F1A14"/>
                </a:solidFill>
                <a:latin typeface="Arial" pitchFamily="34" charset="0"/>
                <a:ea typeface="Arial" pitchFamily="34" charset="-122"/>
                <a:cs typeface="Arial" pitchFamily="34" charset="-120"/>
              </a:rPr>
              <a:t>[ One planned experience, with room to wander. ]</a:t>
            </a:r>
            <a:endParaRPr lang="en-US" sz="1215" dirty="0"/>
          </a:p>
        </p:txBody>
      </p:sp>
      <p:sp>
        <p:nvSpPr>
          <p:cNvPr id="11" name="Text 8"/>
          <p:cNvSpPr/>
          <p:nvPr/>
        </p:nvSpPr>
        <p:spPr>
          <a:xfrm>
            <a:off x="514350" y="3686175"/>
            <a:ext cx="8115300" cy="8483"/>
          </a:xfrm>
          <a:prstGeom prst="rect">
            <a:avLst/>
          </a:prstGeom>
          <a:solidFill>
            <a:srgbClr val="E8E3DA"/>
          </a:solidFill>
          <a:ln/>
        </p:spPr>
        <p:txBody>
          <a:bodyPr wrap="square" rtlCol="0" anchor="ctr"/>
          <a:lstStyle/>
          <a:p>
            <a:pPr indent="0" marL="0">
              <a:buNone/>
            </a:pPr>
            <a:endParaRPr lang="en-US" dirty="0"/>
          </a:p>
        </p:txBody>
      </p:sp>
      <p:sp>
        <p:nvSpPr>
          <p:cNvPr id="12" name="Text 9"/>
          <p:cNvSpPr/>
          <p:nvPr/>
        </p:nvSpPr>
        <p:spPr>
          <a:xfrm>
            <a:off x="514350" y="4000500"/>
            <a:ext cx="8598218" cy="142875"/>
          </a:xfrm>
          <a:prstGeom prst="rect">
            <a:avLst/>
          </a:prstGeom>
          <a:noFill/>
          <a:ln/>
        </p:spPr>
        <p:txBody>
          <a:bodyPr wrap="square" lIns="0" tIns="0" rIns="0" bIns="0" rtlCol="0" anchor="t"/>
          <a:lstStyle/>
          <a:p>
            <a:pPr algn="l" indent="0" marL="0">
              <a:lnSpc>
                <a:spcPts val="990"/>
              </a:lnSpc>
              <a:buNone/>
            </a:pPr>
            <a:r>
              <a:rPr lang="en-US" sz="900" dirty="0">
                <a:solidFill>
                  <a:srgbClr val="0F1A14"/>
                </a:solidFill>
                <a:latin typeface="Arial" pitchFamily="34" charset="0"/>
                <a:ea typeface="Arial" pitchFamily="34" charset="-122"/>
                <a:cs typeface="Arial" pitchFamily="34" charset="-120"/>
              </a:rPr>
              <a:t>DAY 03</a:t>
            </a:r>
            <a:endParaRPr lang="en-US" sz="900" dirty="0"/>
          </a:p>
        </p:txBody>
      </p:sp>
      <p:sp>
        <p:nvSpPr>
          <p:cNvPr id="13" name="Text 10"/>
          <p:cNvSpPr/>
          <p:nvPr/>
        </p:nvSpPr>
        <p:spPr>
          <a:xfrm>
            <a:off x="2171700" y="3920430"/>
            <a:ext cx="6907721" cy="285750"/>
          </a:xfrm>
          <a:prstGeom prst="rect">
            <a:avLst/>
          </a:prstGeom>
          <a:noFill/>
          <a:ln/>
        </p:spPr>
        <p:txBody>
          <a:bodyPr wrap="square" lIns="0" tIns="0" rIns="0" bIns="0" rtlCol="0" anchor="t"/>
          <a:lstStyle/>
          <a:p>
            <a:pPr algn="l" indent="0" marL="0">
              <a:lnSpc>
                <a:spcPts val="1980"/>
              </a:lnSpc>
              <a:buNone/>
            </a:pPr>
            <a:r>
              <a:rPr lang="en-US" sz="1800" dirty="0">
                <a:solidFill>
                  <a:srgbClr val="0F1A14"/>
                </a:solidFill>
                <a:latin typeface="Georgia" pitchFamily="34" charset="0"/>
                <a:ea typeface="Georgia" pitchFamily="34" charset="-122"/>
                <a:cs typeface="Georgia" pitchFamily="34" charset="-120"/>
              </a:rPr>
              <a:t>[ One more good day ]</a:t>
            </a:r>
            <a:endParaRPr lang="en-US" sz="1800" dirty="0"/>
          </a:p>
        </p:txBody>
      </p:sp>
      <p:sp>
        <p:nvSpPr>
          <p:cNvPr id="14" name="Text 11"/>
          <p:cNvSpPr/>
          <p:nvPr/>
        </p:nvSpPr>
        <p:spPr>
          <a:xfrm>
            <a:off x="2171700" y="4314825"/>
            <a:ext cx="6907721" cy="192881"/>
          </a:xfrm>
          <a:prstGeom prst="rect">
            <a:avLst/>
          </a:prstGeom>
          <a:noFill/>
          <a:ln/>
        </p:spPr>
        <p:txBody>
          <a:bodyPr wrap="square" lIns="0" tIns="0" rIns="0" bIns="0" rtlCol="0" anchor="t"/>
          <a:lstStyle/>
          <a:p>
            <a:pPr algn="l" indent="0" marL="0">
              <a:lnSpc>
                <a:spcPts val="1337"/>
              </a:lnSpc>
              <a:buNone/>
            </a:pPr>
            <a:r>
              <a:rPr lang="en-US" sz="1215" dirty="0">
                <a:solidFill>
                  <a:srgbClr val="0F1A14"/>
                </a:solidFill>
                <a:latin typeface="Arial" pitchFamily="34" charset="0"/>
                <a:ea typeface="Arial" pitchFamily="34" charset="-122"/>
                <a:cs typeface="Arial" pitchFamily="34" charset="-120"/>
              </a:rPr>
              <a:t>[ A final experience or onward travel. ]</a:t>
            </a:r>
            <a:endParaRPr lang="en-US" sz="121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BF5"/>
        </a:solidFill>
      </p:bgPr>
    </p:bg>
    <p:spTree>
      <p:nvGrpSpPr>
        <p:cNvPr id="1" name=""/>
        <p:cNvGrpSpPr/>
        <p:nvPr/>
      </p:nvGrpSpPr>
      <p:grpSpPr>
        <a:xfrm>
          <a:off x="0" y="0"/>
          <a:ext cx="0" cy="0"/>
          <a:chOff x="0" y="0"/>
          <a:chExt cx="0" cy="0"/>
        </a:xfrm>
      </p:grpSpPr>
      <p:pic>
        <p:nvPicPr>
          <p:cNvPr id="2" name="Image 0" descr="/Users/zakwinnick/Documents/GitHub/WyldWandering/branding/wyld-wandering-brand-kit-v1/01-logos/png/ww-horizontal-light.png">    </p:cNvPr>
          <p:cNvPicPr>
            <a:picLocks noChangeAspect="1"/>
          </p:cNvPicPr>
          <p:nvPr/>
        </p:nvPicPr>
        <p:blipFill>
          <a:blip r:embed="rId1"/>
          <a:stretch>
            <a:fillRect/>
          </a:stretch>
        </p:blipFill>
        <p:spPr>
          <a:xfrm>
            <a:off x="371475" y="171450"/>
            <a:ext cx="2743200" cy="528935"/>
          </a:xfrm>
          <a:prstGeom prst="rect">
            <a:avLst/>
          </a:prstGeom>
        </p:spPr>
      </p:pic>
      <p:sp>
        <p:nvSpPr>
          <p:cNvPr id="3" name="Text 0"/>
          <p:cNvSpPr/>
          <p:nvPr/>
        </p:nvSpPr>
        <p:spPr>
          <a:xfrm>
            <a:off x="457200" y="1057275"/>
            <a:ext cx="8656511" cy="585788"/>
          </a:xfrm>
          <a:prstGeom prst="rect">
            <a:avLst/>
          </a:prstGeom>
          <a:noFill/>
          <a:ln/>
        </p:spPr>
        <p:txBody>
          <a:bodyPr wrap="square" lIns="0" tIns="0" rIns="0" bIns="0" rtlCol="0" anchor="t"/>
          <a:lstStyle/>
          <a:p>
            <a:pPr algn="l" indent="0" marL="0">
              <a:lnSpc>
                <a:spcPts val="4059"/>
              </a:lnSpc>
              <a:buNone/>
            </a:pPr>
            <a:r>
              <a:rPr lang="en-US" sz="3690" dirty="0">
                <a:solidFill>
                  <a:srgbClr val="0F1A14"/>
                </a:solidFill>
                <a:latin typeface="Georgia" pitchFamily="34" charset="0"/>
                <a:ea typeface="Georgia" pitchFamily="34" charset="-122"/>
                <a:cs typeface="Georgia" pitchFamily="34" charset="-120"/>
              </a:rPr>
              <a:t>Before we book</a:t>
            </a:r>
            <a:endParaRPr lang="en-US" sz="3690" dirty="0"/>
          </a:p>
        </p:txBody>
      </p:sp>
      <p:sp>
        <p:nvSpPr>
          <p:cNvPr id="4" name="Text 1"/>
          <p:cNvSpPr/>
          <p:nvPr/>
        </p:nvSpPr>
        <p:spPr>
          <a:xfrm>
            <a:off x="514350" y="2000250"/>
            <a:ext cx="8598218" cy="142875"/>
          </a:xfrm>
          <a:prstGeom prst="rect">
            <a:avLst/>
          </a:prstGeom>
          <a:noFill/>
          <a:ln/>
        </p:spPr>
        <p:txBody>
          <a:bodyPr wrap="square" lIns="0" tIns="0" rIns="0" bIns="0" rtlCol="0" anchor="t"/>
          <a:lstStyle/>
          <a:p>
            <a:pPr algn="l" indent="0" marL="0">
              <a:lnSpc>
                <a:spcPts val="990"/>
              </a:lnSpc>
              <a:buNone/>
            </a:pPr>
            <a:r>
              <a:rPr lang="en-US" sz="900" dirty="0">
                <a:solidFill>
                  <a:srgbClr val="0F1A14"/>
                </a:solidFill>
                <a:latin typeface="Arial" pitchFamily="34" charset="0"/>
                <a:ea typeface="Arial" pitchFamily="34" charset="-122"/>
                <a:cs typeface="Arial" pitchFamily="34" charset="-120"/>
              </a:rPr>
              <a:t>INCLUDED</a:t>
            </a:r>
            <a:endParaRPr lang="en-US" sz="900" dirty="0"/>
          </a:p>
        </p:txBody>
      </p:sp>
      <p:sp>
        <p:nvSpPr>
          <p:cNvPr id="5" name="Text 2"/>
          <p:cNvSpPr/>
          <p:nvPr/>
        </p:nvSpPr>
        <p:spPr>
          <a:xfrm>
            <a:off x="514350" y="2400300"/>
            <a:ext cx="8598218" cy="207169"/>
          </a:xfrm>
          <a:prstGeom prst="rect">
            <a:avLst/>
          </a:prstGeom>
          <a:noFill/>
          <a:ln/>
        </p:spPr>
        <p:txBody>
          <a:bodyPr wrap="square" lIns="0" tIns="0" rIns="0" bIns="0" rtlCol="0" anchor="t"/>
          <a:lstStyle/>
          <a:p>
            <a:pPr algn="l" indent="0" marL="0">
              <a:lnSpc>
                <a:spcPts val="1436"/>
              </a:lnSpc>
              <a:buNone/>
            </a:pPr>
            <a:r>
              <a:rPr lang="en-US" sz="1305" dirty="0">
                <a:solidFill>
                  <a:srgbClr val="0F1A14"/>
                </a:solidFill>
                <a:latin typeface="Arial" pitchFamily="34" charset="0"/>
                <a:ea typeface="Arial" pitchFamily="34" charset="-122"/>
                <a:cs typeface="Arial" pitchFamily="34" charset="-120"/>
              </a:rPr>
              <a:t>[ Hotel and room category ]</a:t>
            </a:r>
            <a:endParaRPr lang="en-US" sz="1305" dirty="0"/>
          </a:p>
        </p:txBody>
      </p:sp>
      <p:sp>
        <p:nvSpPr>
          <p:cNvPr id="6" name="Text 3"/>
          <p:cNvSpPr/>
          <p:nvPr/>
        </p:nvSpPr>
        <p:spPr>
          <a:xfrm>
            <a:off x="514350" y="2698552"/>
            <a:ext cx="8598218" cy="207169"/>
          </a:xfrm>
          <a:prstGeom prst="rect">
            <a:avLst/>
          </a:prstGeom>
          <a:noFill/>
          <a:ln/>
        </p:spPr>
        <p:txBody>
          <a:bodyPr wrap="square" lIns="0" tIns="0" rIns="0" bIns="0" rtlCol="0" anchor="t"/>
          <a:lstStyle/>
          <a:p>
            <a:pPr algn="l" indent="0" marL="0">
              <a:lnSpc>
                <a:spcPts val="1436"/>
              </a:lnSpc>
              <a:buNone/>
            </a:pPr>
            <a:r>
              <a:rPr lang="en-US" sz="1305" dirty="0">
                <a:solidFill>
                  <a:srgbClr val="0F1A14"/>
                </a:solidFill>
                <a:latin typeface="Arial" pitchFamily="34" charset="0"/>
                <a:ea typeface="Arial" pitchFamily="34" charset="-122"/>
                <a:cs typeface="Arial" pitchFamily="34" charset="-120"/>
              </a:rPr>
              <a:t>[ Transfers and experiences ]</a:t>
            </a:r>
            <a:endParaRPr lang="en-US" sz="1305" dirty="0"/>
          </a:p>
        </p:txBody>
      </p:sp>
      <p:sp>
        <p:nvSpPr>
          <p:cNvPr id="7" name="Text 4"/>
          <p:cNvSpPr/>
          <p:nvPr/>
        </p:nvSpPr>
        <p:spPr>
          <a:xfrm>
            <a:off x="514350" y="2996803"/>
            <a:ext cx="8598218" cy="207169"/>
          </a:xfrm>
          <a:prstGeom prst="rect">
            <a:avLst/>
          </a:prstGeom>
          <a:noFill/>
          <a:ln/>
        </p:spPr>
        <p:txBody>
          <a:bodyPr wrap="square" lIns="0" tIns="0" rIns="0" bIns="0" rtlCol="0" anchor="t"/>
          <a:lstStyle/>
          <a:p>
            <a:pPr algn="l" indent="0" marL="0">
              <a:lnSpc>
                <a:spcPts val="1436"/>
              </a:lnSpc>
              <a:buNone/>
            </a:pPr>
            <a:r>
              <a:rPr lang="en-US" sz="1305" dirty="0">
                <a:solidFill>
                  <a:srgbClr val="0F1A14"/>
                </a:solidFill>
                <a:latin typeface="Arial" pitchFamily="34" charset="0"/>
                <a:ea typeface="Arial" pitchFamily="34" charset="-122"/>
                <a:cs typeface="Arial" pitchFamily="34" charset="-120"/>
              </a:rPr>
              <a:t>[ Confirmed amenities ]</a:t>
            </a:r>
            <a:endParaRPr lang="en-US" sz="1305" dirty="0"/>
          </a:p>
        </p:txBody>
      </p:sp>
      <p:sp>
        <p:nvSpPr>
          <p:cNvPr id="8" name="Text 5"/>
          <p:cNvSpPr/>
          <p:nvPr/>
        </p:nvSpPr>
        <p:spPr>
          <a:xfrm>
            <a:off x="4457700" y="1943100"/>
            <a:ext cx="11311" cy="2057400"/>
          </a:xfrm>
          <a:prstGeom prst="rect">
            <a:avLst/>
          </a:prstGeom>
          <a:solidFill>
            <a:srgbClr val="E8E3DA"/>
          </a:solidFill>
          <a:ln/>
        </p:spPr>
        <p:txBody>
          <a:bodyPr wrap="square" rtlCol="0" anchor="ctr"/>
          <a:lstStyle/>
          <a:p>
            <a:pPr indent="0" marL="0">
              <a:buNone/>
            </a:pPr>
            <a:endParaRPr lang="en-US" dirty="0"/>
          </a:p>
        </p:txBody>
      </p:sp>
      <p:sp>
        <p:nvSpPr>
          <p:cNvPr id="9" name="Text 6"/>
          <p:cNvSpPr/>
          <p:nvPr/>
        </p:nvSpPr>
        <p:spPr>
          <a:xfrm>
            <a:off x="4914900" y="2000250"/>
            <a:ext cx="4109657" cy="142875"/>
          </a:xfrm>
          <a:prstGeom prst="rect">
            <a:avLst/>
          </a:prstGeom>
          <a:noFill/>
          <a:ln/>
        </p:spPr>
        <p:txBody>
          <a:bodyPr wrap="square" lIns="0" tIns="0" rIns="0" bIns="0" rtlCol="0" anchor="t"/>
          <a:lstStyle/>
          <a:p>
            <a:pPr algn="l" indent="0" marL="0">
              <a:lnSpc>
                <a:spcPts val="990"/>
              </a:lnSpc>
              <a:buNone/>
            </a:pPr>
            <a:r>
              <a:rPr lang="en-US" sz="900" dirty="0">
                <a:solidFill>
                  <a:srgbClr val="0F1A14"/>
                </a:solidFill>
                <a:latin typeface="Arial" pitchFamily="34" charset="0"/>
                <a:ea typeface="Arial" pitchFamily="34" charset="-122"/>
                <a:cs typeface="Arial" pitchFamily="34" charset="-120"/>
              </a:rPr>
              <a:t>TO CONFIRM</a:t>
            </a:r>
            <a:endParaRPr lang="en-US" sz="900" dirty="0"/>
          </a:p>
        </p:txBody>
      </p:sp>
      <p:sp>
        <p:nvSpPr>
          <p:cNvPr id="10" name="Text 7"/>
          <p:cNvSpPr/>
          <p:nvPr/>
        </p:nvSpPr>
        <p:spPr>
          <a:xfrm>
            <a:off x="4914900" y="2400300"/>
            <a:ext cx="4109657" cy="207169"/>
          </a:xfrm>
          <a:prstGeom prst="rect">
            <a:avLst/>
          </a:prstGeom>
          <a:noFill/>
          <a:ln/>
        </p:spPr>
        <p:txBody>
          <a:bodyPr wrap="square" lIns="0" tIns="0" rIns="0" bIns="0" rtlCol="0" anchor="t"/>
          <a:lstStyle/>
          <a:p>
            <a:pPr algn="l" indent="0" marL="0">
              <a:lnSpc>
                <a:spcPts val="1436"/>
              </a:lnSpc>
              <a:buNone/>
            </a:pPr>
            <a:r>
              <a:rPr lang="en-US" sz="1305" dirty="0">
                <a:solidFill>
                  <a:srgbClr val="0F1A14"/>
                </a:solidFill>
                <a:latin typeface="Arial" pitchFamily="34" charset="0"/>
                <a:ea typeface="Arial" pitchFamily="34" charset="-122"/>
                <a:cs typeface="Arial" pitchFamily="34" charset="-120"/>
              </a:rPr>
              <a:t>[ Total and currency ]</a:t>
            </a:r>
            <a:endParaRPr lang="en-US" sz="1305" dirty="0"/>
          </a:p>
        </p:txBody>
      </p:sp>
      <p:sp>
        <p:nvSpPr>
          <p:cNvPr id="11" name="Text 8"/>
          <p:cNvSpPr/>
          <p:nvPr/>
        </p:nvSpPr>
        <p:spPr>
          <a:xfrm>
            <a:off x="4914900" y="2698552"/>
            <a:ext cx="4109657" cy="207169"/>
          </a:xfrm>
          <a:prstGeom prst="rect">
            <a:avLst/>
          </a:prstGeom>
          <a:noFill/>
          <a:ln/>
        </p:spPr>
        <p:txBody>
          <a:bodyPr wrap="square" lIns="0" tIns="0" rIns="0" bIns="0" rtlCol="0" anchor="t"/>
          <a:lstStyle/>
          <a:p>
            <a:pPr algn="l" indent="0" marL="0">
              <a:lnSpc>
                <a:spcPts val="1436"/>
              </a:lnSpc>
              <a:buNone/>
            </a:pPr>
            <a:r>
              <a:rPr lang="en-US" sz="1305" dirty="0">
                <a:solidFill>
                  <a:srgbClr val="0F1A14"/>
                </a:solidFill>
                <a:latin typeface="Arial" pitchFamily="34" charset="0"/>
                <a:ea typeface="Arial" pitchFamily="34" charset="-122"/>
                <a:cs typeface="Arial" pitchFamily="34" charset="-120"/>
              </a:rPr>
              <a:t>[ Deposit and payment dates ]</a:t>
            </a:r>
            <a:endParaRPr lang="en-US" sz="1305" dirty="0"/>
          </a:p>
        </p:txBody>
      </p:sp>
      <p:sp>
        <p:nvSpPr>
          <p:cNvPr id="12" name="Text 9"/>
          <p:cNvSpPr/>
          <p:nvPr/>
        </p:nvSpPr>
        <p:spPr>
          <a:xfrm>
            <a:off x="4914900" y="2996803"/>
            <a:ext cx="4109657" cy="207169"/>
          </a:xfrm>
          <a:prstGeom prst="rect">
            <a:avLst/>
          </a:prstGeom>
          <a:noFill/>
          <a:ln/>
        </p:spPr>
        <p:txBody>
          <a:bodyPr wrap="square" lIns="0" tIns="0" rIns="0" bIns="0" rtlCol="0" anchor="t"/>
          <a:lstStyle/>
          <a:p>
            <a:pPr algn="l" indent="0" marL="0">
              <a:lnSpc>
                <a:spcPts val="1436"/>
              </a:lnSpc>
              <a:buNone/>
            </a:pPr>
            <a:r>
              <a:rPr lang="en-US" sz="1305" dirty="0">
                <a:solidFill>
                  <a:srgbClr val="0F1A14"/>
                </a:solidFill>
                <a:latin typeface="Arial" pitchFamily="34" charset="0"/>
                <a:ea typeface="Arial" pitchFamily="34" charset="-122"/>
                <a:cs typeface="Arial" pitchFamily="34" charset="-120"/>
              </a:rPr>
              <a:t>[ Cancellation terms ]</a:t>
            </a:r>
            <a:endParaRPr lang="en-US" sz="1305" dirty="0"/>
          </a:p>
        </p:txBody>
      </p:sp>
      <p:sp>
        <p:nvSpPr>
          <p:cNvPr id="13" name="Text 10"/>
          <p:cNvSpPr/>
          <p:nvPr/>
        </p:nvSpPr>
        <p:spPr>
          <a:xfrm>
            <a:off x="514350" y="4314825"/>
            <a:ext cx="8115300" cy="8483"/>
          </a:xfrm>
          <a:prstGeom prst="rect">
            <a:avLst/>
          </a:prstGeom>
          <a:solidFill>
            <a:srgbClr val="E8E3DA"/>
          </a:solidFill>
          <a:ln/>
        </p:spPr>
        <p:txBody>
          <a:bodyPr wrap="square" rtlCol="0" anchor="ctr"/>
          <a:lstStyle/>
          <a:p>
            <a:pPr indent="0" marL="0">
              <a:buNone/>
            </a:pPr>
            <a:endParaRPr lang="en-US" dirty="0"/>
          </a:p>
        </p:txBody>
      </p:sp>
      <p:sp>
        <p:nvSpPr>
          <p:cNvPr id="14" name="Text 11"/>
          <p:cNvSpPr/>
          <p:nvPr/>
        </p:nvSpPr>
        <p:spPr>
          <a:xfrm>
            <a:off x="514350" y="4600575"/>
            <a:ext cx="8598218" cy="157163"/>
          </a:xfrm>
          <a:prstGeom prst="rect">
            <a:avLst/>
          </a:prstGeom>
          <a:noFill/>
          <a:ln/>
        </p:spPr>
        <p:txBody>
          <a:bodyPr wrap="square" lIns="0" tIns="0" rIns="0" bIns="0" rtlCol="0" anchor="t"/>
          <a:lstStyle/>
          <a:p>
            <a:pPr algn="l" indent="0" marL="0">
              <a:lnSpc>
                <a:spcPts val="1089"/>
              </a:lnSpc>
              <a:buNone/>
            </a:pPr>
            <a:r>
              <a:rPr lang="en-US" sz="990" dirty="0">
                <a:solidFill>
                  <a:srgbClr val="0F1A14"/>
                </a:solidFill>
                <a:latin typeface="Arial" pitchFamily="34" charset="0"/>
                <a:ea typeface="Arial" pitchFamily="34" charset="-122"/>
                <a:cs typeface="Arial" pitchFamily="34" charset="-120"/>
              </a:rPr>
              <a:t>[ Add the applicable availability and booking conditions. ]</a:t>
            </a:r>
            <a:endParaRPr lang="en-US" sz="9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A14"/>
        </a:solidFill>
      </p:bgPr>
    </p:bg>
    <p:spTree>
      <p:nvGrpSpPr>
        <p:cNvPr id="1" name=""/>
        <p:cNvGrpSpPr/>
        <p:nvPr/>
      </p:nvGrpSpPr>
      <p:grpSpPr>
        <a:xfrm>
          <a:off x="0" y="0"/>
          <a:ext cx="0" cy="0"/>
          <a:chOff x="0" y="0"/>
          <a:chExt cx="0" cy="0"/>
        </a:xfrm>
      </p:grpSpPr>
      <p:pic>
        <p:nvPicPr>
          <p:cNvPr id="2" name="Image 0" descr="/Users/zakwinnick/Documents/GitHub/WyldWandering/branding/wyld-wandering-brand-kit-v1/01-logos/png/ww-horizontal-dark.png">    </p:cNvPr>
          <p:cNvPicPr>
            <a:picLocks noChangeAspect="1"/>
          </p:cNvPicPr>
          <p:nvPr/>
        </p:nvPicPr>
        <p:blipFill>
          <a:blip r:embed="rId1"/>
          <a:stretch>
            <a:fillRect/>
          </a:stretch>
        </p:blipFill>
        <p:spPr>
          <a:xfrm>
            <a:off x="400050" y="342900"/>
            <a:ext cx="3543300" cy="683270"/>
          </a:xfrm>
          <a:prstGeom prst="rect">
            <a:avLst/>
          </a:prstGeom>
        </p:spPr>
      </p:pic>
      <p:sp>
        <p:nvSpPr>
          <p:cNvPr id="3" name="Text 0"/>
          <p:cNvSpPr/>
          <p:nvPr/>
        </p:nvSpPr>
        <p:spPr>
          <a:xfrm>
            <a:off x="457200" y="1885950"/>
            <a:ext cx="8656511" cy="800100"/>
          </a:xfrm>
          <a:prstGeom prst="rect">
            <a:avLst/>
          </a:prstGeom>
          <a:noFill/>
          <a:ln/>
        </p:spPr>
        <p:txBody>
          <a:bodyPr wrap="square" lIns="0" tIns="0" rIns="0" bIns="0" rtlCol="0" anchor="t"/>
          <a:lstStyle/>
          <a:p>
            <a:pPr algn="l" indent="0" marL="0">
              <a:lnSpc>
                <a:spcPts val="5544"/>
              </a:lnSpc>
              <a:buNone/>
            </a:pPr>
            <a:r>
              <a:rPr lang="en-US" sz="5040" dirty="0">
                <a:solidFill>
                  <a:srgbClr val="FFFBF5"/>
                </a:solidFill>
                <a:latin typeface="Georgia" pitchFamily="34" charset="0"/>
                <a:ea typeface="Georgia" pitchFamily="34" charset="-122"/>
                <a:cs typeface="Georgia" pitchFamily="34" charset="-120"/>
              </a:rPr>
              <a:t>Your trip, handled.</a:t>
            </a:r>
            <a:endParaRPr lang="en-US" sz="5040" dirty="0"/>
          </a:p>
        </p:txBody>
      </p:sp>
      <p:sp>
        <p:nvSpPr>
          <p:cNvPr id="4" name="Text 1"/>
          <p:cNvSpPr/>
          <p:nvPr/>
        </p:nvSpPr>
        <p:spPr>
          <a:xfrm>
            <a:off x="514350" y="2914650"/>
            <a:ext cx="8598218" cy="242888"/>
          </a:xfrm>
          <a:prstGeom prst="rect">
            <a:avLst/>
          </a:prstGeom>
          <a:noFill/>
          <a:ln/>
        </p:spPr>
        <p:txBody>
          <a:bodyPr wrap="square" lIns="0" tIns="0" rIns="0" bIns="0" rtlCol="0" anchor="t"/>
          <a:lstStyle/>
          <a:p>
            <a:pPr algn="l" indent="0" marL="0">
              <a:lnSpc>
                <a:spcPts val="1683"/>
              </a:lnSpc>
              <a:buNone/>
            </a:pPr>
            <a:r>
              <a:rPr lang="en-US" sz="1530" dirty="0">
                <a:solidFill>
                  <a:srgbClr val="FFFBF5"/>
                </a:solidFill>
                <a:latin typeface="Arial" pitchFamily="34" charset="0"/>
                <a:ea typeface="Arial" pitchFamily="34" charset="-122"/>
                <a:cs typeface="Arial" pitchFamily="34" charset="-120"/>
              </a:rPr>
              <a:t>[ The next step to make this trip yours. ]</a:t>
            </a:r>
            <a:endParaRPr lang="en-US" sz="1530" dirty="0"/>
          </a:p>
        </p:txBody>
      </p:sp>
      <p:sp>
        <p:nvSpPr>
          <p:cNvPr id="5" name="Text 2"/>
          <p:cNvSpPr/>
          <p:nvPr/>
        </p:nvSpPr>
        <p:spPr>
          <a:xfrm>
            <a:off x="514350" y="3714750"/>
            <a:ext cx="685800" cy="28575"/>
          </a:xfrm>
          <a:prstGeom prst="rect">
            <a:avLst/>
          </a:prstGeom>
          <a:solidFill>
            <a:srgbClr val="C45D3A"/>
          </a:solidFill>
          <a:ln/>
        </p:spPr>
        <p:txBody>
          <a:bodyPr wrap="square" rtlCol="0" anchor="ctr"/>
          <a:lstStyle/>
          <a:p>
            <a:pPr indent="0" marL="0">
              <a:buNone/>
            </a:pPr>
            <a:endParaRPr lang="en-US" dirty="0"/>
          </a:p>
        </p:txBody>
      </p:sp>
      <p:sp>
        <p:nvSpPr>
          <p:cNvPr id="6" name="Text 3"/>
          <p:cNvSpPr/>
          <p:nvPr/>
        </p:nvSpPr>
        <p:spPr>
          <a:xfrm>
            <a:off x="514350" y="4200525"/>
            <a:ext cx="8598218" cy="200025"/>
          </a:xfrm>
          <a:prstGeom prst="rect">
            <a:avLst/>
          </a:prstGeom>
          <a:noFill/>
          <a:ln/>
        </p:spPr>
        <p:txBody>
          <a:bodyPr wrap="square" lIns="0" tIns="0" rIns="0" bIns="0" rtlCol="0" anchor="t"/>
          <a:lstStyle/>
          <a:p>
            <a:pPr algn="l" indent="0" marL="0">
              <a:lnSpc>
                <a:spcPts val="1386"/>
              </a:lnSpc>
              <a:buNone/>
            </a:pPr>
            <a:r>
              <a:rPr lang="en-US" sz="1260" dirty="0">
                <a:solidFill>
                  <a:srgbClr val="FFFBF5"/>
                </a:solidFill>
                <a:latin typeface="Arial" pitchFamily="34" charset="0"/>
                <a:ea typeface="Arial" pitchFamily="34" charset="-122"/>
                <a:cs typeface="Arial" pitchFamily="34" charset="-120"/>
              </a:rPr>
              <a:t>Zak Winnick / zak@winnick.io</a:t>
            </a:r>
            <a:endParaRPr lang="en-US" sz="1260" dirty="0"/>
          </a:p>
        </p:txBody>
      </p:sp>
      <p:sp>
        <p:nvSpPr>
          <p:cNvPr id="7" name="Text 4"/>
          <p:cNvSpPr/>
          <p:nvPr/>
        </p:nvSpPr>
        <p:spPr>
          <a:xfrm>
            <a:off x="514350" y="4572000"/>
            <a:ext cx="8598218" cy="164306"/>
          </a:xfrm>
          <a:prstGeom prst="rect">
            <a:avLst/>
          </a:prstGeom>
          <a:noFill/>
          <a:ln/>
        </p:spPr>
        <p:txBody>
          <a:bodyPr wrap="square" lIns="0" tIns="0" rIns="0" bIns="0" rtlCol="0" anchor="t"/>
          <a:lstStyle/>
          <a:p>
            <a:pPr algn="l" indent="0" marL="0">
              <a:lnSpc>
                <a:spcPts val="1139"/>
              </a:lnSpc>
              <a:buNone/>
            </a:pPr>
            <a:r>
              <a:rPr lang="en-US" sz="1035" dirty="0">
                <a:solidFill>
                  <a:srgbClr val="FFFBF5"/>
                </a:solidFill>
                <a:latin typeface="Arial" pitchFamily="34" charset="0"/>
                <a:ea typeface="Arial" pitchFamily="34" charset="-122"/>
                <a:cs typeface="Arial" pitchFamily="34" charset="-120"/>
              </a:rPr>
              <a:t>wyldwandering.com</a:t>
            </a:r>
            <a:endParaRPr lang="en-US" sz="103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Wyld Wandering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Wyld Wandering — client-presentation</dc:title>
  <dc:subject>Editable brand template</dc:subject>
  <dc:creator>Wyld Wandering</dc:creator>
  <cp:lastModifiedBy>Wyld Wandering</cp:lastModifiedBy>
  <cp:revision>1</cp:revision>
  <dcterms:created xsi:type="dcterms:W3CDTF">2026-10-22T22:54:23Z</dcterms:created>
  <dcterms:modified xsi:type="dcterms:W3CDTF">2026-10-22T22:54:23Z</dcterms:modified>
</cp:coreProperties>
</file>